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Accuracy on 960 held-out reviews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3-way accuracy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TF-IDF baseline</c:v>
                  </c:pt>
                  <c:pt idx="1">
                    <c:v>Claude v2</c:v>
                  </c:pt>
                  <c:pt idx="2">
                    <c:v>Claude v3 stars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72.9</c:v>
                </c:pt>
                <c:pt idx="1">
                  <c:v>77.3</c:v>
                </c:pt>
                <c:pt idx="2">
                  <c:v>78.1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Positive vs negative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TF-IDF baseline</c:v>
                  </c:pt>
                  <c:pt idx="1">
                    <c:v>Claude v2</c:v>
                  </c:pt>
                  <c:pt idx="2">
                    <c:v>Claude v3 stars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83.9</c:v>
                </c:pt>
                <c:pt idx="1">
                  <c:v>88.5</c:v>
                </c:pt>
                <c:pt idx="2">
                  <c:v>88.4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60"/>
        </c:scaling>
        <c:delete val="0"/>
        <c:axPos val="l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Silhouette score (higher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k-means silhouette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A2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Native review text</c:v>
                  </c:pt>
                  <c:pt idx="1">
                    <c:v>Claude issue phrase (English)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0.04</c:v>
                </c:pt>
                <c:pt idx="1">
                  <c:v>0.07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"/>
          <c:min val="0"/>
        </c:scaling>
        <c:delete val="0"/>
        <c:axPos val="l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Weekly negative reviews per issue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Delayed shipments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2</c:v>
                </c:pt>
                <c:pt idx="6">
                  <c:v>3</c:v>
                </c:pt>
                <c:pt idx="7">
                  <c:v>27</c:v>
                </c:pt>
                <c:pt idx="8">
                  <c:v>4</c:v>
                </c:pt>
                <c:pt idx="9">
                  <c:v>4</c:v>
                </c:pt>
                <c:pt idx="10">
                  <c:v>2</c:v>
                </c:pt>
                <c:pt idx="11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Damaged packaging</c:v>
                </c:pt>
              </c:strCache>
            </c:strRef>
          </c:tx>
          <c:spPr>
            <a:solidFill>
              <a:srgbClr val="E9A23B"/>
            </a:solidFill>
            <a:ln w="31750" cap="flat">
              <a:solidFill>
                <a:srgbClr val="E9A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A23B"/>
              </a:solidFill>
              <a:ln w="9525" cap="flat">
                <a:solidFill>
                  <a:srgbClr val="E9A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</c:v>
                </c:pt>
                <c:pt idx="1">
                  <c:v>6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  <c:pt idx="9">
                  <c:v>19</c:v>
                </c:pt>
                <c:pt idx="10">
                  <c:v>3</c:v>
                </c:pt>
                <c:pt idx="11">
                  <c:v>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Price complaints</c:v>
                </c:pt>
              </c:strCache>
            </c:strRef>
          </c:tx>
          <c:spPr>
            <a:solidFill>
              <a:srgbClr val="C8553D"/>
            </a:solidFill>
            <a:ln w="3175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7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3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  <c:pt idx="10">
                  <c:v>12</c:v>
                </c:pt>
                <c:pt idx="11">
                  <c:v>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Missing parts</c:v>
                </c:pt>
              </c:strCache>
            </c:strRef>
          </c:tx>
          <c:spPr>
            <a:solidFill>
              <a:srgbClr val="1F3A5F"/>
            </a:solidFill>
            <a:ln w="31750" cap="flat">
              <a:solidFill>
                <a:srgbClr val="1F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5</c:v>
                </c:pt>
                <c:pt idx="4">
                  <c:v>6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6</c:v>
                </c:pt>
                <c:pt idx="9">
                  <c:v>12</c:v>
                </c:pt>
                <c:pt idx="10">
                  <c:v>2</c:v>
                </c:pt>
                <c:pt idx="11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Simulated week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Negative reviews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Judge score (1-5), 48 replies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Prompt v1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Empathy</c:v>
                  </c:pt>
                  <c:pt idx="1">
                    <c:v>Specificity</c:v>
                  </c:pt>
                  <c:pt idx="2">
                    <c:v>Correctness</c:v>
                  </c:pt>
                  <c:pt idx="3">
                    <c:v>Tone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3.73</c:v>
                </c:pt>
                <c:pt idx="1">
                  <c:v>3.81</c:v>
                </c:pt>
                <c:pt idx="2">
                  <c:v>4.54</c:v>
                </c:pt>
                <c:pt idx="3">
                  <c:v>4.54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 v2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Empathy</c:v>
                  </c:pt>
                  <c:pt idx="1">
                    <c:v>Specificity</c:v>
                  </c:pt>
                  <c:pt idx="2">
                    <c:v>Correctness</c:v>
                  </c:pt>
                  <c:pt idx="3">
                    <c:v>Tone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3.83</c:v>
                </c:pt>
                <c:pt idx="1">
                  <c:v>4.04</c:v>
                </c:pt>
                <c:pt idx="2">
                  <c:v>4.58</c:v>
                </c:pt>
                <c:pt idx="3">
                  <c:v>4.56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3"/>
        </c:scaling>
        <c:delete val="0"/>
        <c:axPos val="l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in one sentence: a pipeline that turns multilingual customer reviews into insights, alerts and draft replies.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each member and what they built. Replace the role lines with real contributions.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example. We come back to these four situations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diagram left to right: ingest, translate, analyse, issue category, draft reply. Outputs: approval queue, dashboard, spike alert in Slack. The judge and the API sit alongside.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dates are simulated, so the trend results show the detector works, not real customer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failure test: the pipeline does not crash when the API key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three-way accuracy is capped: the 3-star label is often mixed. 101 of 192 neutral reviews were called negative. Chinese is the weakest language for Claude (binary 81.2%).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absolute silhouette is low, as expected for short phrases about very different products. The clusters read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Slack channel with the alert message. Lesson learned: our first version said sent even when nothing reached Slack, because Slack's docs page returned HTTP 200. We now require the reply 'ok'.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about the proxy: the judge is Claude Sonnet 5, a different model from the drafter. The team skipped the human acceptance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Throughput was measured on 120 reviews and extrapolated to 1,000. Total spend estimate is $2.8 to $3.7 including runs whose cost was not 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Dates in the sheet are simulated, with three planted spikes. The fourth alert (missing parts) is a false alarm. The topic pie chart is also on the Dashboard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run workflow 04 and show this message arriving in #all-capstone-project.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or three to tell as short stories: the sorted dataset, the false 'sent', and the neutral-class ceiling.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table top to bottom. The two honest misses are three-way sentiment and star error; both trace back to noisy star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task ties back to a problem example on slide 3. Run task 4 once before the demo to confirm the output. Backup: recorded outputs and exported n8n JSON, in case the n8n Cloud trial (current account valid to about 16 October) or the network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first, then what we would do with more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 minutes per review is an illustration, not a measurement. Replace it with the team's own figure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PROGRAM IN APPLIED GENERATIVE AI AND AGENTIC AI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Review Insights &amp; Response Generator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reviews in six languages, find what is going wrong, and draft the reply.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TalentSprint capstone final presentation  |  11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Srinivasan 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18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96596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JK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Jyothi Kawalli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218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96596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Shishir Rai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218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52560" y="17373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0" y="196596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354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Shyam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3218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97764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754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 Vamsi Krishna Posani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230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3280" y="37490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397764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6616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VB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4754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Vinay Bommireddy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566160" y="5230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37490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397764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4754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 Shivani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5230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reviews outpace the team reading them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handled today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fails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3-star review: “I love the sound but it turns itself back on.”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Counted as a neutral star in an average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product fault is invisible in the average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“Arrived late and the box was crushed.”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agent reads it and replies by hand, or it is skipped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issues mixed, reply late and generic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Japanese review with one annoying flaw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Copied into a translator by whoever reads Japanese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Slow, not repeatable, reply in the wrong language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week of delayed-shipment complaints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in a monthly report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arrives weeks late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92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 English, German, Spanish, French, Japanese, Chinese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4892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 h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5715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time to a reply when handled by hand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892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1,000+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5715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 day the team should be able to handle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solution: one pipeline from review to reply to alert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pic>
        <p:nvPicPr>
          <p:cNvPr id="5" name="Image 0" descr="C:\Users\HP\AppData\Local\Temp\claude\E--Capstone-Project\e1198f5c-9597-4f9e-97a5-53c83e2ccc77\scratchpad\report\fig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58952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508760"/>
            <a:ext cx="3246120" cy="3886200"/>
          </a:xfrm>
          <a:prstGeom prst="roundRect">
            <a:avLst>
              <a:gd name="adj" fmla="val 28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95360" y="1645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choices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205740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for every language step: fast and cheap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5 judges the replies, so no model grades itself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replies always wait for a human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prompts, spend cap, every call logged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n8n, Claude API, Google Sheets, Slack, FastAPI, sentence-transformers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PIPELINE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reviews in six languages, and what the data lacks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in the main sample: 200 per language, 240 per star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468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reviews, scored once, never tuned 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468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reviews used to choose prompts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1,560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2468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reviews on the dashboard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394960" cy="2651760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02336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Amazon Reviews Corpus (Kaggle copy)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labels come from stars: 1-2 negative, 3 neutral, 4-5 positive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sample: the source files are sorted by star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474720"/>
            <a:ext cx="5394960" cy="2651760"/>
          </a:xfrm>
          <a:prstGeom prst="roundRect">
            <a:avLst>
              <a:gd name="adj" fmla="val 3448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does not have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02336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 dates: trend stage uses simulated weeks with planted spikes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are a noisy proxy for text sentiment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labels for topics or issues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1: TRANSLATE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Translation: Claude is as good as Groq and steadier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7665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reviews, 5 languages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Qwen 27B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Haiku 4.5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JSON, ids match, language right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40/40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40/40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per batch of 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s to 58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 s to 21.7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$0.54 per 1,000 reviews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64592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Claude only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19456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latency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dropped its Llama chat models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family keeps the pipeline simple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4434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n8n workflow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84632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reviews per call, 3 retries, failures recorded per review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reviews: 100 translated, 20 English skipped, 0 failed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API key: run finishes and marks every review failed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2: ANALYSE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Sentiment: two-way target met, three-way not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55448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103120"/>
            <a:ext cx="3840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88.4% positive vs negative: target of 85% met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78.1% three-way: target not met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the neutral class (3 stars): recall only 37%, because 3-star reviews are truly mixed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stacking model added nothing (75-78%)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error 0.47; 95.6% within one star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is derived from star ratings, which is a noisy proxy. We report the limit instead of tuning around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3: FIND THE ISSUES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Clustering: describe the issue in English, then group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47548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554480"/>
            <a:ext cx="6035040" cy="3657600"/>
          </a:xfrm>
          <a:prstGeom prst="roundRect">
            <a:avLst>
              <a:gd name="adj" fmla="val 25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691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named issue categories, mixing all six languages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2103120"/>
            <a:ext cx="56692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or missing shipments and poor support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packaging and product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item received; missing parts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fails soon after purchase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and performance issues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flaws and uncomfortable fit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Overpriced and rapid price drops ... and 6 more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Translate-then-analyse beats native text (1.6x). HDBSCAN found mostly noise, so we use k-means with k = 13. Inside n8n, Claude assigns the category (43% agreement with k-means; k-means is not ground truth).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4: ALERT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Spike detection: 3 planted spikes found, 1 false alarm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0876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229600" y="1508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88.6%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1508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94.3%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9966960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0" y="3200400"/>
            <a:ext cx="3383280" cy="251460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37490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vs the last 4 weeks, z &gt;= 3.5 and &gt;= 8 reviews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0.5 false alarms per 12 weeks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alerts posted to Slack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are simulated and the threshold was tuned on the same simulation, so these numbers are optimistic. The fourth alert (missing parts) was not planted: a false alarm.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5: RESPOND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Replies: guardrails plus an independent judge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0876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949440" y="1508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79.2%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judge-acceptable with prompt v2 (v1: 68.8%)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418320" y="1508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941832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wrong-language replies; 0 promised outcomes with v2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49440" y="3200400"/>
            <a:ext cx="4663440" cy="2240280"/>
          </a:xfrm>
          <a:prstGeom prst="roundRect">
            <a:avLst>
              <a:gd name="adj" fmla="val 408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374904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in the reviewer's language, 40 to 90 words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facts from the review; no refund, replacement or date promised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replies always go to a human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acceptance was not measured: the 79.2% is a model's opinion. Weakest cases: neutral reviews (58%) and Japanese (62%).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 in n8n, with an API and a dashboard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 workflow 03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nodes, retries, continue on error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reviews in 81 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$0.30 per 120 reviews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 failures on n8n Cloud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service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10312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/analyze, /draft-response, /trends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and hard spend cap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Claude call logged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automated tests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and Slack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10312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Sheets: sentiment, topics, issues, spikes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04 posts spikes to Slack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nothing to run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37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~$2.50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60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1,000 reviews (replies $1.40, translation $0.50, analysis $0.60)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4937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 min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5760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process 1,000 reviews (0.68 s per review)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4937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$4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5760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 Claude spend for the whole project (budget $5)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what the team sees in Google Sheets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pic>
        <p:nvPicPr>
          <p:cNvPr id="5" name="Image 0" descr="C:\Users\HP\AppData\Local\Temp\claude\E--Capstone-Project\e1198f5c-9597-4f9e-97a5-53c83e2ccc77\scratchpad\report\dash_kpi_iss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2597359"/>
          </a:xfrm>
          <a:prstGeom prst="rect">
            <a:avLst/>
          </a:prstGeom>
        </p:spPr>
      </p:pic>
      <p:pic>
        <p:nvPicPr>
          <p:cNvPr id="6" name="Image 1" descr="C:\Users\HP\AppData\Local\Temp\claude\E--Capstone-Project\e1198f5c-9597-4f9e-97a5-53c83e2ccc77\scratchpad\report\dash_spike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08760"/>
            <a:ext cx="4434840" cy="2601578"/>
          </a:xfrm>
          <a:prstGeom prst="rect">
            <a:avLst/>
          </a:prstGeom>
        </p:spPr>
      </p:pic>
      <p:pic>
        <p:nvPicPr>
          <p:cNvPr id="7" name="Image 2" descr="C:\Users\HP\AppData\Local\Temp\claude\E--Capstone-Project\e1198f5c-9597-4f9e-97a5-53c83e2ccc77\scratchpad\report\dash_senti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43400"/>
            <a:ext cx="3200400" cy="1872199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023360" y="4343400"/>
            <a:ext cx="7315200" cy="192024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4206240" y="44805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dashboard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4206240" y="489204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left: 1,560 reviews, 49.0% negative, 765 drafts awaiting a human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right: weekly negative reviews per issue; the peaks are the 4 Slack alerts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left: sentiment mix per week; dates are simulated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Slack alert: the team hears about a spike straight away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pic>
        <p:nvPicPr>
          <p:cNvPr id="5" name="Image 0" descr="C:\Users\HP\AppData\Local\Temp\claude\E--Capstone-Project\e1198f5c-9597-4f9e-97a5-53c83e2ccc77\scratchpad\report\slack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315200" cy="11321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600200"/>
            <a:ext cx="3383280" cy="4251960"/>
          </a:xfrm>
          <a:prstGeom prst="roundRect">
            <a:avLst>
              <a:gd name="adj" fmla="val 270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214884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04 reads the dashboard sheet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weeks with z &gt;= 3.5 and at least 8 reviews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one message with counts, baseline and a link to the dashboard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confirmed only when Slack answers 'ok'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389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 flagged in the 12 simulated weeks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10896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12.56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3108960" y="4389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largest: delayed shipments, 27 reviews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4389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run: no Claude calls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394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missing-parts alert was not planted, so it is a false alarm.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TRIED AND CHALLENGES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 along the way, and how we fixed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overcame 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dataset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N rows were all 1-star reviews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sample per star and language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dates in the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test trend detection on real weeks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weeks with planted spikes, said openly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free tier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from 1.5 to 58 s; Llama models gone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 on 40 reviews, chose Claude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class stuck near 37% 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v3 and a stacking model gave no real gain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the simple model, explained the star-proxy limit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Clusters too diffuse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HDBSCAN returned mostly noise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Claude's English issue phrase with k-means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mistakes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the supplied name as invented; thinking block broke parsing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Told it the name is system-provided; parse the first text block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 said 'sent' but nothing arrived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Placeholder URL returned an HTML page with HTTP 200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 the exact reply 'ok'; tested three cases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Cloud limits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local files or embedding model; trial limited (current account to ~16 Oct)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classifies into 13 categories; workflow JSON kept in the repo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against the targets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577840"/>
                <a:gridCol w="22860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1,000+ reviews per day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 minutes per 1,000 reviews (measured on 120)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 on speed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85%+ sentiment accuracy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 positive vs negative; 78.1% three-way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Two-way met, three-way not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 in 3 h instead of 24 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in about a minute; human approval time not measured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met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error at most 0.15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0.47; 95.6% within one star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met, unrealistic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of drafts accepted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79.2% by the LLM judge; no human test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Close, proxy only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sudden spikes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88.6%, recall 94.3% on simulated weeks; Slack alert works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 on simulated data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the misses instead of tuning until the numbers looked good.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plan: five tasks, from easy to hardest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82496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55448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554480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one review: “arrived late and the box was crushed”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0" y="1554480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Late, generic handling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87168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615184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487168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2487168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neutral review: translate, classify, draft a Japanese reply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2487168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Language barrier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19856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547872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547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419856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3419856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n8n workflow 03 on a six-language batch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3419856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Manual reading at volume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352544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4352544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834640" y="4352544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mixed 3-star review about the device that restarts itself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4352544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Stars hide the reason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285232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413248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5413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5285232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Hardest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2834640" y="5285232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workflow 04: spike found, Slack message arrives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0" y="5285232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Spikes found late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where we go next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dates; threshold tuned on the same simulation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sentiment 78.1%, neutral class weak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test of reply quality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and Japanese replies are weakest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categories in n8n agree 43% with k-means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test sets; results move by a few points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updated by paste; not deployed publicly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and scaling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03120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real dated review feed and retune spikes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 with support staff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separate 'mixed' flag for neutral reviews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Self-updating dashboard and Looker Studio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and caching to cut the $2.50 per 1,000 reviews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languages; send approved replies by Slack or email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edited replies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PERSPECTIVE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view: cheap, fast, and a human stays in charge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Customer Review Insights &amp; Response Generator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of model usage at 1,000 reviews a day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554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min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377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automated processing for a day's 1,000 reviews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~33 h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manual work for the same reviews at 2 min each (assumption)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5394960" cy="2606040"/>
          </a:xfrm>
          <a:prstGeom prst="roundRect">
            <a:avLst>
              <a:gd name="adj" fmla="val 350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11480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in the customer's own language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on delivery, packaging and price problems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view of why customers rate low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566160"/>
            <a:ext cx="5394960" cy="2606040"/>
          </a:xfrm>
          <a:prstGeom prst="roundRect">
            <a:avLst>
              <a:gd name="adj" fmla="val 350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we manage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411480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Over-promising replies: guardrails, judge, human approval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surprises: spend cap and call log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neutral sentiment: flag borderline reviews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github.com/west01srinivas-hue/Capstone_Project_Group_5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and experiment log are in the repository and on the LMS.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Review Insights &amp; Response Generator - Group 5</dc:title>
  <dc:subject>PptxGenJS Presentation</dc:subject>
  <dc:creator>PptxGenJS</dc:creator>
  <cp:lastModifiedBy>PptxGenJS</cp:lastModifiedBy>
  <cp:revision>1</cp:revision>
  <dcterms:created xsi:type="dcterms:W3CDTF">2026-09-26T12:00:15Z</dcterms:created>
  <dcterms:modified xsi:type="dcterms:W3CDTF">2026-09-26T12:00:15Z</dcterms:modified>
</cp:coreProperties>
</file>