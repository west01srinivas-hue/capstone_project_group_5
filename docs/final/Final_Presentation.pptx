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Accuracy on 960 held-out reviews (%)</a:t>
            </a:r>
          </a:p>
        </c:rich>
      </c:tx>
      <c:layout/>
      <c:overlay val="0"/>
    </c:title>
    <c:autoTitleDeleted val="0"/>
    <c:plotArea>
      <c:layout/>
      <c:barChart>
        <c:barDir val="col"/>
        <c:grouping val="clustered"/>
        <c:varyColors val="0"/>
        <c:ser>
          <c:idx val="0"/>
          <c:order val="0"/>
          <c:tx>
            <c:strRef>
              <c:f>Sheet1!$B$1</c:f>
              <c:strCache>
                <c:ptCount val="1"/>
                <c:pt idx="0">
                  <c:v>3-way accuracy</c:v>
                </c:pt>
              </c:strCache>
            </c:strRef>
          </c:tx>
          <c:spPr>
            <a:solidFill>
              <a:srgbClr val="1F3A5F"/>
            </a:solidFill>
            <a:effectLst/>
          </c:spPr>
          <c:invertIfNegative val="0"/>
          <c:dLbls>
            <c:numFmt formatCode="0.0" sourceLinked="0"/>
            <c:txPr>
              <a:bodyPr/>
              <a:lstStyle/>
              <a:p>
                <a:pPr>
                  <a:defRPr b="0" i="0" strike="noStrike" sz="12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TF-IDF baseline</c:v>
                  </c:pt>
                  <c:pt idx="1">
                    <c:v>Claude v2</c:v>
                  </c:pt>
                  <c:pt idx="2">
                    <c:v>Claude v3 stars</c:v>
                  </c:pt>
                </c:lvl>
              </c:multiLvlStrCache>
            </c:multiLvlStrRef>
          </c:cat>
          <c:val>
            <c:numRef>
              <c:f>Sheet1!$B$2:$B$4</c:f>
              <c:numCache>
                <c:formatCode>General</c:formatCode>
                <c:ptCount val="3"/>
                <c:pt idx="0">
                  <c:v>72.9</c:v>
                </c:pt>
                <c:pt idx="1">
                  <c:v>77.3</c:v>
                </c:pt>
                <c:pt idx="2">
                  <c:v>78.1</c:v>
                </c:pt>
              </c:numCache>
            </c:numRef>
          </c:val>
        </c:ser>
        <c:ser>
          <c:idx val="1"/>
          <c:order val="1"/>
          <c:tx>
            <c:strRef>
              <c:f>Sheet1!$C$1</c:f>
              <c:strCache>
                <c:ptCount val="1"/>
                <c:pt idx="0">
                  <c:v>Positive vs negative</c:v>
                </c:pt>
              </c:strCache>
            </c:strRef>
          </c:tx>
          <c:spPr>
            <a:solidFill>
              <a:srgbClr val="2A9D8F"/>
            </a:solidFill>
            <a:effectLst/>
          </c:spPr>
          <c:invertIfNegative val="0"/>
          <c:dLbls>
            <c:numFmt formatCode="0.0" sourceLinked="0"/>
            <c:txPr>
              <a:bodyPr/>
              <a:lstStyle/>
              <a:p>
                <a:pPr>
                  <a:defRPr b="0" i="0" strike="noStrike" sz="1200" u="none">
                    <a:solidFill>
                      <a:srgbClr val="1B2733"/>
                    </a:solidFill>
                    <a:latin typeface="Arial"/>
                  </a:defRPr>
                </a:pPr>
              </a:p>
            </c:txPr>
            <c:showLegendKey val="0"/>
            <c:showVal val="1"/>
            <c:showCatName val="0"/>
            <c:showSerName val="0"/>
            <c:showPercent val="0"/>
            <c:showBubbleSize val="0"/>
            <c:showLeaderLines val="0"/>
          </c:dLbls>
          <c:cat>
            <c:multiLvlStrRef>
              <c:f>Sheet1!$A$2:$A$4</c:f>
              <c:multiLvlStrCache>
                <c:ptCount val="3"/>
                <c:lvl>
                  <c:pt idx="0">
                    <c:v>TF-IDF baseline</c:v>
                  </c:pt>
                  <c:pt idx="1">
                    <c:v>Claude v2</c:v>
                  </c:pt>
                  <c:pt idx="2">
                    <c:v>Claude v3 stars</c:v>
                  </c:pt>
                </c:lvl>
              </c:multiLvlStrCache>
            </c:multiLvlStrRef>
          </c:cat>
          <c:val>
            <c:numRef>
              <c:f>Sheet1!$C$2:$C$4</c:f>
              <c:numCache>
                <c:formatCode>General</c:formatCode>
                <c:ptCount val="3"/>
                <c:pt idx="0">
                  <c:v>83.9</c:v>
                </c:pt>
                <c:pt idx="1">
                  <c:v>88.5</c:v>
                </c:pt>
                <c:pt idx="2">
                  <c:v>88.4</c:v>
                </c:pt>
              </c:numCache>
            </c:numRef>
          </c:val>
        </c:ser>
        <c:dLbls>
          <c:numFmt formatCode="0.0" sourceLinked="0"/>
          <c:txPr>
            <a:bodyPr/>
            <a:lstStyle/>
            <a:p>
              <a:pPr>
                <a:defRPr b="0" i="0" strike="noStrike" sz="1200" u="none">
                  <a:solidFill>
                    <a:srgbClr val="1B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Silhouette score (higher is better)</a:t>
            </a:r>
          </a:p>
        </c:rich>
      </c:tx>
      <c:layout/>
      <c:overlay val="0"/>
    </c:title>
    <c:autoTitleDeleted val="0"/>
    <c:plotArea>
      <c:layout/>
      <c:barChart>
        <c:barDir val="col"/>
        <c:grouping val="clustered"/>
        <c:varyColors val="0"/>
        <c:ser>
          <c:idx val="0"/>
          <c:order val="0"/>
          <c:tx>
            <c:strRef>
              <c:f>Sheet1!$B$1</c:f>
              <c:strCache>
                <c:ptCount val="1"/>
                <c:pt idx="0">
                  <c:v>k-means silhouette</c:v>
                </c:pt>
              </c:strCache>
            </c:strRef>
          </c:tx>
          <c:spPr>
            <a:solidFill>
              <a:srgbClr val="E9A23B"/>
            </a:solidFill>
            <a:effectLst/>
          </c:spPr>
          <c:invertIfNegative val="0"/>
          <c:dLbls>
            <c:numFmt formatCode="0.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E9A23B"/>
              </a:solidFill>
              <a:effectLst/>
            </c:spPr>
          </c:dPt>
          <c:dPt>
            <c:idx val="1"/>
            <c:invertIfNegative val="0"/>
            <c:bubble3D val="0"/>
            <c:spPr>
              <a:solidFill>
                <a:srgbClr val="2A9D8F"/>
              </a:solidFill>
              <a:effectLst/>
            </c:spPr>
          </c:dPt>
          <c:cat>
            <c:multiLvlStrRef>
              <c:f>Sheet1!$A$2:$A$3</c:f>
              <c:multiLvlStrCache>
                <c:ptCount val="2"/>
                <c:lvl>
                  <c:pt idx="0">
                    <c:v>Native review text</c:v>
                  </c:pt>
                  <c:pt idx="1">
                    <c:v>Claude issue phrase (English)</c:v>
                  </c:pt>
                </c:lvl>
              </c:multiLvlStrCache>
            </c:multiLvlStrRef>
          </c:cat>
          <c:val>
            <c:numRef>
              <c:f>Sheet1!$B$2:$B$3</c:f>
              <c:numCache>
                <c:formatCode>General</c:formatCode>
                <c:ptCount val="2"/>
                <c:pt idx="0">
                  <c:v>0.04</c:v>
                </c:pt>
                <c:pt idx="1">
                  <c:v>0.07</c:v>
                </c:pt>
              </c:numCache>
            </c:numRef>
          </c:val>
        </c:ser>
        <c:dLbls>
          <c:numFmt formatCode="0.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0.1"/>
          <c:min val="0"/>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Weekly negative reviews per issue</a:t>
            </a:r>
          </a:p>
        </c:rich>
      </c:tx>
      <c:layout/>
      <c:overlay val="0"/>
    </c:title>
    <c:autoTitleDeleted val="0"/>
    <c:plotArea>
      <c:layout/>
      <c:lineChart>
        <c:varyColors val="0"/>
        <c:ser>
          <c:idx val="0"/>
          <c:order val="0"/>
          <c:tx>
            <c:strRef>
              <c:f>Sheet1!$B$1</c:f>
              <c:strCache>
                <c:ptCount val="1"/>
                <c:pt idx="0">
                  <c:v>Delayed shipments</c:v>
                </c:pt>
              </c:strCache>
            </c:strRef>
          </c:tx>
          <c:spPr>
            <a:solidFill>
              <a:srgbClr val="2A9D8F"/>
            </a:solidFill>
            <a:ln w="31750" cap="flat">
              <a:solidFill>
                <a:srgbClr val="2A9D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A9D8F"/>
              </a:solidFill>
              <a:ln w="9525" cap="flat">
                <a:solidFill>
                  <a:srgbClr val="2A9D8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c:v>
                </c:pt>
                <c:pt idx="1">
                  <c:v>5</c:v>
                </c:pt>
                <c:pt idx="2">
                  <c:v>3</c:v>
                </c:pt>
                <c:pt idx="3">
                  <c:v>4</c:v>
                </c:pt>
                <c:pt idx="4">
                  <c:v>5</c:v>
                </c:pt>
                <c:pt idx="5">
                  <c:v>2</c:v>
                </c:pt>
                <c:pt idx="6">
                  <c:v>3</c:v>
                </c:pt>
                <c:pt idx="7">
                  <c:v>27</c:v>
                </c:pt>
                <c:pt idx="8">
                  <c:v>4</c:v>
                </c:pt>
                <c:pt idx="9">
                  <c:v>4</c:v>
                </c:pt>
                <c:pt idx="10">
                  <c:v>2</c:v>
                </c:pt>
                <c:pt idx="11">
                  <c:v>4</c:v>
                </c:pt>
              </c:numCache>
            </c:numRef>
          </c:val>
          <c:smooth val="0"/>
        </c:ser>
        <c:ser>
          <c:idx val="1"/>
          <c:order val="1"/>
          <c:tx>
            <c:strRef>
              <c:f>Sheet1!$C$1</c:f>
              <c:strCache>
                <c:ptCount val="1"/>
                <c:pt idx="0">
                  <c:v>Damaged packaging</c:v>
                </c:pt>
              </c:strCache>
            </c:strRef>
          </c:tx>
          <c:spPr>
            <a:solidFill>
              <a:srgbClr val="E9A23B"/>
            </a:solidFill>
            <a:ln w="31750" cap="flat">
              <a:solidFill>
                <a:srgbClr val="E9A2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9A23B"/>
              </a:solidFill>
              <a:ln w="9525" cap="flat">
                <a:solidFill>
                  <a:srgbClr val="E9A23B"/>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Sheet1!$C$2:$C$13</c:f>
              <c:numCache>
                <c:formatCode>General</c:formatCode>
                <c:ptCount val="12"/>
                <c:pt idx="0">
                  <c:v>5</c:v>
                </c:pt>
                <c:pt idx="1">
                  <c:v>6</c:v>
                </c:pt>
                <c:pt idx="2">
                  <c:v>3</c:v>
                </c:pt>
                <c:pt idx="3">
                  <c:v>2</c:v>
                </c:pt>
                <c:pt idx="4">
                  <c:v>2</c:v>
                </c:pt>
                <c:pt idx="5">
                  <c:v>2</c:v>
                </c:pt>
                <c:pt idx="6">
                  <c:v>4</c:v>
                </c:pt>
                <c:pt idx="7">
                  <c:v>3</c:v>
                </c:pt>
                <c:pt idx="8">
                  <c:v>2</c:v>
                </c:pt>
                <c:pt idx="9">
                  <c:v>19</c:v>
                </c:pt>
                <c:pt idx="10">
                  <c:v>3</c:v>
                </c:pt>
                <c:pt idx="11">
                  <c:v>5</c:v>
                </c:pt>
              </c:numCache>
            </c:numRef>
          </c:val>
          <c:smooth val="0"/>
        </c:ser>
        <c:ser>
          <c:idx val="2"/>
          <c:order val="2"/>
          <c:tx>
            <c:strRef>
              <c:f>Sheet1!$D$1</c:f>
              <c:strCache>
                <c:ptCount val="1"/>
                <c:pt idx="0">
                  <c:v>Price complaints</c:v>
                </c:pt>
              </c:strCache>
            </c:strRef>
          </c:tx>
          <c:spPr>
            <a:solidFill>
              <a:srgbClr val="C8553D"/>
            </a:solidFill>
            <a:ln w="31750" cap="flat">
              <a:solidFill>
                <a:srgbClr val="C855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8553D"/>
              </a:solidFill>
              <a:ln w="9525" cap="flat">
                <a:solidFill>
                  <a:srgbClr val="C8553D"/>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Sheet1!$D$2:$D$13</c:f>
              <c:numCache>
                <c:formatCode>General</c:formatCode>
                <c:ptCount val="12"/>
                <c:pt idx="0">
                  <c:v>7</c:v>
                </c:pt>
                <c:pt idx="1">
                  <c:v>2</c:v>
                </c:pt>
                <c:pt idx="2">
                  <c:v>1</c:v>
                </c:pt>
                <c:pt idx="3">
                  <c:v>2</c:v>
                </c:pt>
                <c:pt idx="4">
                  <c:v>3</c:v>
                </c:pt>
                <c:pt idx="5">
                  <c:v>4</c:v>
                </c:pt>
                <c:pt idx="6">
                  <c:v>3</c:v>
                </c:pt>
                <c:pt idx="7">
                  <c:v>4</c:v>
                </c:pt>
                <c:pt idx="8">
                  <c:v>3</c:v>
                </c:pt>
                <c:pt idx="9">
                  <c:v>4</c:v>
                </c:pt>
                <c:pt idx="10">
                  <c:v>12</c:v>
                </c:pt>
                <c:pt idx="11">
                  <c:v>3</c:v>
                </c:pt>
              </c:numCache>
            </c:numRef>
          </c:val>
          <c:smooth val="0"/>
        </c:ser>
        <c:ser>
          <c:idx val="3"/>
          <c:order val="3"/>
          <c:tx>
            <c:strRef>
              <c:f>Sheet1!$E$1</c:f>
              <c:strCache>
                <c:ptCount val="1"/>
                <c:pt idx="0">
                  <c:v>Missing parts</c:v>
                </c:pt>
              </c:strCache>
            </c:strRef>
          </c:tx>
          <c:spPr>
            <a:solidFill>
              <a:srgbClr val="1F3A5F"/>
            </a:solidFill>
            <a:ln w="31750" cap="flat">
              <a:solidFill>
                <a:srgbClr val="1F3A5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A5F"/>
              </a:solidFill>
              <a:ln w="9525" cap="flat">
                <a:solidFill>
                  <a:srgbClr val="1F3A5F"/>
                </a:solidFill>
                <a:prstDash val="solid"/>
                <a:round/>
              </a:ln>
              <a:effectLst/>
            </c:spPr>
          </c:marker>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Sheet1!$E$2:$E$13</c:f>
              <c:numCache>
                <c:formatCode>General</c:formatCode>
                <c:ptCount val="12"/>
                <c:pt idx="0">
                  <c:v>5</c:v>
                </c:pt>
                <c:pt idx="1">
                  <c:v>4</c:v>
                </c:pt>
                <c:pt idx="2">
                  <c:v>3</c:v>
                </c:pt>
                <c:pt idx="3">
                  <c:v>5</c:v>
                </c:pt>
                <c:pt idx="4">
                  <c:v>6</c:v>
                </c:pt>
                <c:pt idx="5">
                  <c:v>3</c:v>
                </c:pt>
                <c:pt idx="6">
                  <c:v>3</c:v>
                </c:pt>
                <c:pt idx="7">
                  <c:v>3</c:v>
                </c:pt>
                <c:pt idx="8">
                  <c:v>6</c:v>
                </c:pt>
                <c:pt idx="9">
                  <c:v>12</c:v>
                </c:pt>
                <c:pt idx="10">
                  <c:v>2</c:v>
                </c:pt>
                <c:pt idx="11">
                  <c:v>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Simulated week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7EC"/>
              </a:solidFill>
              <a:prstDash val="solid"/>
              <a:round/>
            </a:ln>
          </c:spPr>
        </c:majorGridlines>
        <c:title>
          <c:tx>
            <c:rich>
              <a:bodyPr/>
              <a:lstStyle/>
              <a:p>
                <a:pPr>
                  <a:defRPr sz="1100" b="0" i="0" u="none" strike="noStrike">
                    <a:solidFill>
                      <a:srgbClr val="000000"/>
                    </a:solidFill>
                    <a:latin typeface="Arial"/>
                  </a:defRPr>
                </a:pPr>
                <a:r>
                  <a:rPr sz="1100" b="0" i="0" u="none" strike="noStrike">
                    <a:solidFill>
                      <a:srgbClr val="000000"/>
                    </a:solidFill>
                    <a:latin typeface="Arial"/>
                  </a:rPr>
                  <a:t>Negative reviews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Arial"/>
              </a:defRPr>
            </a:pPr>
            <a:r>
              <a:rPr sz="1400" b="0" i="0" u="none" strike="noStrike">
                <a:solidFill>
                  <a:srgbClr val="1F3A5F"/>
                </a:solidFill>
                <a:latin typeface="Arial"/>
              </a:rPr>
              <a:t>Judge score (1-5), 48 replies</a:t>
            </a:r>
          </a:p>
        </c:rich>
      </c:tx>
      <c:layout/>
      <c:overlay val="0"/>
    </c:title>
    <c:autoTitleDeleted val="0"/>
    <c:plotArea>
      <c:layout/>
      <c:barChart>
        <c:barDir val="col"/>
        <c:grouping val="clustered"/>
        <c:varyColors val="0"/>
        <c:ser>
          <c:idx val="0"/>
          <c:order val="0"/>
          <c:tx>
            <c:strRef>
              <c:f>Sheet1!$B$1</c:f>
              <c:strCache>
                <c:ptCount val="1"/>
                <c:pt idx="0">
                  <c:v>Prompt v1</c:v>
                </c:pt>
              </c:strCache>
            </c:strRef>
          </c:tx>
          <c:spPr>
            <a:solidFill>
              <a:srgbClr val="9AA5B1"/>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Empathy</c:v>
                  </c:pt>
                  <c:pt idx="1">
                    <c:v>Specificity</c:v>
                  </c:pt>
                  <c:pt idx="2">
                    <c:v>Correctness</c:v>
                  </c:pt>
                  <c:pt idx="3">
                    <c:v>Tone</c:v>
                  </c:pt>
                </c:lvl>
              </c:multiLvlStrCache>
            </c:multiLvlStrRef>
          </c:cat>
          <c:val>
            <c:numRef>
              <c:f>Sheet1!$B$2:$B$5</c:f>
              <c:numCache>
                <c:formatCode>General</c:formatCode>
                <c:ptCount val="4"/>
                <c:pt idx="0">
                  <c:v>3.73</c:v>
                </c:pt>
                <c:pt idx="1">
                  <c:v>3.81</c:v>
                </c:pt>
                <c:pt idx="2">
                  <c:v>4.54</c:v>
                </c:pt>
                <c:pt idx="3">
                  <c:v>4.54</c:v>
                </c:pt>
              </c:numCache>
            </c:numRef>
          </c:val>
        </c:ser>
        <c:ser>
          <c:idx val="1"/>
          <c:order val="1"/>
          <c:tx>
            <c:strRef>
              <c:f>Sheet1!$C$1</c:f>
              <c:strCache>
                <c:ptCount val="1"/>
                <c:pt idx="0">
                  <c:v>Prompt v2</c:v>
                </c:pt>
              </c:strCache>
            </c:strRef>
          </c:tx>
          <c:spPr>
            <a:solidFill>
              <a:srgbClr val="E9A23B"/>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Empathy</c:v>
                  </c:pt>
                  <c:pt idx="1">
                    <c:v>Specificity</c:v>
                  </c:pt>
                  <c:pt idx="2">
                    <c:v>Correctness</c:v>
                  </c:pt>
                  <c:pt idx="3">
                    <c:v>Tone</c:v>
                  </c:pt>
                </c:lvl>
              </c:multiLvlStrCache>
            </c:multiLvlStrRef>
          </c:cat>
          <c:val>
            <c:numRef>
              <c:f>Sheet1!$C$2:$C$5</c:f>
              <c:numCache>
                <c:formatCode>General</c:formatCode>
                <c:ptCount val="4"/>
                <c:pt idx="0">
                  <c:v>3.83</c:v>
                </c:pt>
                <c:pt idx="1">
                  <c:v>4.04</c:v>
                </c:pt>
                <c:pt idx="2">
                  <c:v>4.58</c:v>
                </c:pt>
                <c:pt idx="3">
                  <c:v>4.56</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733"/>
                </a:solidFill>
                <a:latin typeface="Arial"/>
              </a:defRPr>
            </a:pPr>
            <a:endParaRPr lang="en-US"/>
          </a:p>
        </c:txPr>
        <c:crossAx val="2094734552"/>
        <c:crosses val="autoZero"/>
        <c:auto val="1"/>
        <c:lblAlgn val="ctr"/>
        <c:noMultiLvlLbl val="1"/>
      </c:catAx>
      <c:valAx>
        <c:axId val="2094734552"/>
        <c:scaling>
          <c:orientation val="minMax"/>
          <c:max val="5"/>
          <c:min val="3"/>
        </c:scaling>
        <c:delete val="0"/>
        <c:axPos val="l"/>
        <c:majorGridlines>
          <c:spPr>
            <a:ln w="6350" cap="flat">
              <a:solidFill>
                <a:srgbClr val="E3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a pipeline that turns multilingual customer reviews into insights, alerts and draft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member and what they built. Replace the role lines with real contributions.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example. We come back to these four situations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left to right: ingest, translate, analyse, issue category, draft reply. Outputs: approval queue, dashboard, spike alert in Slack. The judge and the API sit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dates are simulated, so the trend results show the detector works, not real customer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failure test: the pipeline does not crash when the API key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three-way accuracy is capped: the 3-star label is often mixed. 101 of 192 neutral reviews were called negative. Chinese is the weakest language for Claude (binary 81.2%).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absolute silhouette is low, as expected for short phrases about very different products. The clusters read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Slack channel with the alert message. Lesson learned: our first version said sent even when nothing reached Slack, because Slack's docs page returned HTTP 200. We now require the reply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the proxy: the judge is Claude Sonnet 5, a different model from the drafter. The team skipped the human acceptance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Throughput was measured on 120 reviews and extrapolated to 1,000. Total spend is $4.29 per the Anthropic Console, including runs whose cost was not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in the sheet are simulated, with three planted spikes. The fourth alert (missing parts) is a false alarm. The topic pie chart is also on the Dashboard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run workflow 04 and show this message arriving in #all-capstone-project.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Space is the fallback if n8n or the network fails: it classifies and drafts replies with the same code. The Anthropic key is a Space secret set by the team, never in the repository. We also moved to a new n8n Cloud account on 2 October; imported workflows carry no credentials, so the credential and Slack webhook were added again and workflows 03 and 04 were re-run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two or three to tell as short stories: the sorted dataset, the false 'sent', and the neutral-class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top to bottom. The two honest misses are three-way sentiment and star error; both trace back to noisy star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ties back to a problem example on slide 3. Run task 4 once before the demo to confirm the output. Backup: recorded outputs and exported n8n JSON, in case the n8n Cloud trial (current account valid to about 16 October) or the network fails. If n8n fails on the day, the Hugging Face Space still runs the same classification and reply drafting.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first, then what we would do with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 minutes per review is an illustration, not a measurement. Replace it with the team's own figure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097280"/>
            <a:ext cx="10515600" cy="365760"/>
          </a:xfrm>
          <a:prstGeom prst="rect">
            <a:avLst/>
          </a:prstGeom>
          <a:noFill/>
          <a:ln/>
        </p:spPr>
        <p:txBody>
          <a:bodyPr wrap="square" lIns="0" tIns="0" rIns="0" bIns="0" rtlCol="0" anchor="ctr"/>
          <a:lstStyle/>
          <a:p>
            <a:pPr indent="0" marL="0">
              <a:buNone/>
            </a:pPr>
            <a:r>
              <a:rPr lang="en-US" sz="1400" b="1" spc="200" kern="0" dirty="0">
                <a:solidFill>
                  <a:srgbClr val="9FB6D3"/>
                </a:solidFill>
                <a:latin typeface="Calibri" pitchFamily="34" charset="0"/>
                <a:ea typeface="Calibri" pitchFamily="34" charset="-122"/>
                <a:cs typeface="Calibri" pitchFamily="34" charset="-120"/>
              </a:rPr>
              <a:t>CERTIFICATION PROGRAM IN APPLIED GENERATIVE AI AND AGENTIC AI</a:t>
            </a:r>
            <a:endParaRPr lang="en-US" sz="1400" dirty="0"/>
          </a:p>
        </p:txBody>
      </p:sp>
      <p:sp>
        <p:nvSpPr>
          <p:cNvPr id="3" name="Text 1"/>
          <p:cNvSpPr txBox="1"/>
          <p:nvPr/>
        </p:nvSpPr>
        <p:spPr>
          <a:xfrm>
            <a:off x="731520" y="1737360"/>
            <a:ext cx="10698480" cy="1737360"/>
          </a:xfrm>
          <a:prstGeom prst="rect">
            <a:avLst/>
          </a:prstGeom>
          <a:noFill/>
          <a:ln/>
        </p:spPr>
        <p:txBody>
          <a:bodyPr wrap="square" lIns="0" tIns="0" rIns="0" bIns="0" rtlCol="0" anchor="t"/>
          <a:lstStyle/>
          <a:p>
            <a:pPr indent="0" marL="0">
              <a:buNone/>
            </a:pPr>
            <a:r>
              <a:rPr lang="en-US" sz="5000" b="1" dirty="0">
                <a:solidFill>
                  <a:srgbClr val="FFFFFF"/>
                </a:solidFill>
                <a:latin typeface="Cambria" pitchFamily="34" charset="0"/>
                <a:ea typeface="Cambria" pitchFamily="34" charset="-122"/>
                <a:cs typeface="Cambria" pitchFamily="34" charset="-120"/>
              </a:rPr>
              <a:t>Customer Review Insights &amp; Response Generator</a:t>
            </a:r>
            <a:endParaRPr lang="en-US" sz="5000" dirty="0"/>
          </a:p>
        </p:txBody>
      </p:sp>
      <p:sp>
        <p:nvSpPr>
          <p:cNvPr id="4" name="Text 2"/>
          <p:cNvSpPr txBox="1"/>
          <p:nvPr/>
        </p:nvSpPr>
        <p:spPr>
          <a:xfrm>
            <a:off x="731520" y="3657600"/>
            <a:ext cx="10058400" cy="457200"/>
          </a:xfrm>
          <a:prstGeom prst="rect">
            <a:avLst/>
          </a:prstGeom>
          <a:noFill/>
          <a:ln/>
        </p:spPr>
        <p:txBody>
          <a:bodyPr wrap="square" lIns="0" tIns="0" rIns="0" bIns="0" rtlCol="0" anchor="ctr"/>
          <a:lstStyle/>
          <a:p>
            <a:pPr indent="0" marL="0">
              <a:buNone/>
            </a:pPr>
            <a:r>
              <a:rPr lang="en-US" sz="2200" dirty="0">
                <a:solidFill>
                  <a:srgbClr val="CFE6E2"/>
                </a:solidFill>
                <a:latin typeface="Calibri" pitchFamily="34" charset="0"/>
                <a:ea typeface="Calibri" pitchFamily="34" charset="-122"/>
                <a:cs typeface="Calibri" pitchFamily="34" charset="-120"/>
              </a:rPr>
              <a:t>Read reviews in six languages, find what is going wrong, and draft the reply.</a:t>
            </a:r>
            <a:endParaRPr lang="en-US" sz="2200" dirty="0"/>
          </a:p>
        </p:txBody>
      </p:sp>
      <p:sp>
        <p:nvSpPr>
          <p:cNvPr id="5" name="Text 3"/>
          <p:cNvSpPr txBox="1"/>
          <p:nvPr/>
        </p:nvSpPr>
        <p:spPr>
          <a:xfrm>
            <a:off x="731520" y="566928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Group 5  |  TalentSprint capstone final presentation  |  11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WHO WE ARE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Team</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737360"/>
            <a:ext cx="2651760" cy="1737360"/>
          </a:xfrm>
          <a:prstGeom prst="roundRect">
            <a:avLst>
              <a:gd name="adj" fmla="val 5263"/>
            </a:avLst>
          </a:prstGeom>
          <a:solidFill>
            <a:srgbClr val="EEF2F7"/>
          </a:solidFill>
          <a:ln w="12700">
            <a:solidFill>
              <a:srgbClr val="EEF2F7"/>
            </a:solidFill>
            <a:prstDash val="solid"/>
          </a:ln>
        </p:spPr>
      </p:sp>
      <p:sp>
        <p:nvSpPr>
          <p:cNvPr id="6" name="Shape 4"/>
          <p:cNvSpPr/>
          <p:nvPr/>
        </p:nvSpPr>
        <p:spPr>
          <a:xfrm>
            <a:off x="731520" y="1965960"/>
            <a:ext cx="731520" cy="731520"/>
          </a:xfrm>
          <a:prstGeom prst="ellipse">
            <a:avLst/>
          </a:prstGeom>
          <a:solidFill>
            <a:srgbClr val="2A9D8F"/>
          </a:solidFill>
          <a:ln w="12700">
            <a:solidFill>
              <a:srgbClr val="2A9D8F"/>
            </a:solidFill>
            <a:prstDash val="solid"/>
          </a:ln>
        </p:spPr>
      </p:sp>
      <p:sp>
        <p:nvSpPr>
          <p:cNvPr id="7" name="Text 5"/>
          <p:cNvSpPr txBox="1"/>
          <p:nvPr/>
        </p:nvSpPr>
        <p:spPr>
          <a:xfrm>
            <a:off x="73152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SK</a:t>
            </a:r>
            <a:endParaRPr lang="en-US" sz="2000" dirty="0"/>
          </a:p>
        </p:txBody>
      </p:sp>
      <p:sp>
        <p:nvSpPr>
          <p:cNvPr id="8" name="Text 6"/>
          <p:cNvSpPr txBox="1"/>
          <p:nvPr/>
        </p:nvSpPr>
        <p:spPr>
          <a:xfrm>
            <a:off x="73152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Srinivasan K</a:t>
            </a:r>
            <a:endParaRPr lang="en-US" sz="1400" dirty="0"/>
          </a:p>
        </p:txBody>
      </p:sp>
      <p:sp>
        <p:nvSpPr>
          <p:cNvPr id="9" name="Text 7"/>
          <p:cNvSpPr txBox="1"/>
          <p:nvPr/>
        </p:nvSpPr>
        <p:spPr>
          <a:xfrm>
            <a:off x="73152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10" name="Shape 8"/>
          <p:cNvSpPr/>
          <p:nvPr/>
        </p:nvSpPr>
        <p:spPr>
          <a:xfrm>
            <a:off x="3383280" y="1737360"/>
            <a:ext cx="2651760" cy="1737360"/>
          </a:xfrm>
          <a:prstGeom prst="roundRect">
            <a:avLst>
              <a:gd name="adj" fmla="val 5263"/>
            </a:avLst>
          </a:prstGeom>
          <a:solidFill>
            <a:srgbClr val="EEF2F7"/>
          </a:solidFill>
          <a:ln w="12700">
            <a:solidFill>
              <a:srgbClr val="EEF2F7"/>
            </a:solidFill>
            <a:prstDash val="solid"/>
          </a:ln>
        </p:spPr>
      </p:sp>
      <p:sp>
        <p:nvSpPr>
          <p:cNvPr id="11" name="Shape 9"/>
          <p:cNvSpPr/>
          <p:nvPr/>
        </p:nvSpPr>
        <p:spPr>
          <a:xfrm>
            <a:off x="3566160" y="1965960"/>
            <a:ext cx="731520" cy="731520"/>
          </a:xfrm>
          <a:prstGeom prst="ellipse">
            <a:avLst/>
          </a:prstGeom>
          <a:solidFill>
            <a:srgbClr val="2A9D8F"/>
          </a:solidFill>
          <a:ln w="12700">
            <a:solidFill>
              <a:srgbClr val="2A9D8F"/>
            </a:solidFill>
            <a:prstDash val="solid"/>
          </a:ln>
        </p:spPr>
      </p:sp>
      <p:sp>
        <p:nvSpPr>
          <p:cNvPr id="12" name="Text 10"/>
          <p:cNvSpPr txBox="1"/>
          <p:nvPr/>
        </p:nvSpPr>
        <p:spPr>
          <a:xfrm>
            <a:off x="356616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JK</a:t>
            </a:r>
            <a:endParaRPr lang="en-US" sz="2000" dirty="0"/>
          </a:p>
        </p:txBody>
      </p:sp>
      <p:sp>
        <p:nvSpPr>
          <p:cNvPr id="13" name="Text 11"/>
          <p:cNvSpPr txBox="1"/>
          <p:nvPr/>
        </p:nvSpPr>
        <p:spPr>
          <a:xfrm>
            <a:off x="356616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Jyothi Kawalli</a:t>
            </a:r>
            <a:endParaRPr lang="en-US" sz="1400" dirty="0"/>
          </a:p>
        </p:txBody>
      </p:sp>
      <p:sp>
        <p:nvSpPr>
          <p:cNvPr id="14" name="Text 12"/>
          <p:cNvSpPr txBox="1"/>
          <p:nvPr/>
        </p:nvSpPr>
        <p:spPr>
          <a:xfrm>
            <a:off x="356616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15" name="Shape 13"/>
          <p:cNvSpPr/>
          <p:nvPr/>
        </p:nvSpPr>
        <p:spPr>
          <a:xfrm>
            <a:off x="6217920" y="1737360"/>
            <a:ext cx="2651760" cy="1737360"/>
          </a:xfrm>
          <a:prstGeom prst="roundRect">
            <a:avLst>
              <a:gd name="adj" fmla="val 5263"/>
            </a:avLst>
          </a:prstGeom>
          <a:solidFill>
            <a:srgbClr val="EEF2F7"/>
          </a:solidFill>
          <a:ln w="12700">
            <a:solidFill>
              <a:srgbClr val="EEF2F7"/>
            </a:solidFill>
            <a:prstDash val="solid"/>
          </a:ln>
        </p:spPr>
      </p:sp>
      <p:sp>
        <p:nvSpPr>
          <p:cNvPr id="16" name="Shape 14"/>
          <p:cNvSpPr/>
          <p:nvPr/>
        </p:nvSpPr>
        <p:spPr>
          <a:xfrm>
            <a:off x="6400800" y="1965960"/>
            <a:ext cx="731520" cy="731520"/>
          </a:xfrm>
          <a:prstGeom prst="ellipse">
            <a:avLst/>
          </a:prstGeom>
          <a:solidFill>
            <a:srgbClr val="2A9D8F"/>
          </a:solidFill>
          <a:ln w="12700">
            <a:solidFill>
              <a:srgbClr val="2A9D8F"/>
            </a:solidFill>
            <a:prstDash val="solid"/>
          </a:ln>
        </p:spPr>
      </p:sp>
      <p:sp>
        <p:nvSpPr>
          <p:cNvPr id="17" name="Text 15"/>
          <p:cNvSpPr txBox="1"/>
          <p:nvPr/>
        </p:nvSpPr>
        <p:spPr>
          <a:xfrm>
            <a:off x="640080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SR</a:t>
            </a:r>
            <a:endParaRPr lang="en-US" sz="2000" dirty="0"/>
          </a:p>
        </p:txBody>
      </p:sp>
      <p:sp>
        <p:nvSpPr>
          <p:cNvPr id="18" name="Text 16"/>
          <p:cNvSpPr txBox="1"/>
          <p:nvPr/>
        </p:nvSpPr>
        <p:spPr>
          <a:xfrm>
            <a:off x="640080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Shishir Rai</a:t>
            </a:r>
            <a:endParaRPr lang="en-US" sz="1400" dirty="0"/>
          </a:p>
        </p:txBody>
      </p:sp>
      <p:sp>
        <p:nvSpPr>
          <p:cNvPr id="19" name="Text 17"/>
          <p:cNvSpPr txBox="1"/>
          <p:nvPr/>
        </p:nvSpPr>
        <p:spPr>
          <a:xfrm>
            <a:off x="640080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20" name="Shape 18"/>
          <p:cNvSpPr/>
          <p:nvPr/>
        </p:nvSpPr>
        <p:spPr>
          <a:xfrm>
            <a:off x="9052560" y="1737360"/>
            <a:ext cx="2651760" cy="1737360"/>
          </a:xfrm>
          <a:prstGeom prst="roundRect">
            <a:avLst>
              <a:gd name="adj" fmla="val 5263"/>
            </a:avLst>
          </a:prstGeom>
          <a:solidFill>
            <a:srgbClr val="EEF2F7"/>
          </a:solidFill>
          <a:ln w="12700">
            <a:solidFill>
              <a:srgbClr val="EEF2F7"/>
            </a:solidFill>
            <a:prstDash val="solid"/>
          </a:ln>
        </p:spPr>
      </p:sp>
      <p:sp>
        <p:nvSpPr>
          <p:cNvPr id="21" name="Shape 19"/>
          <p:cNvSpPr/>
          <p:nvPr/>
        </p:nvSpPr>
        <p:spPr>
          <a:xfrm>
            <a:off x="9235440" y="1965960"/>
            <a:ext cx="731520" cy="731520"/>
          </a:xfrm>
          <a:prstGeom prst="ellipse">
            <a:avLst/>
          </a:prstGeom>
          <a:solidFill>
            <a:srgbClr val="2A9D8F"/>
          </a:solidFill>
          <a:ln w="12700">
            <a:solidFill>
              <a:srgbClr val="2A9D8F"/>
            </a:solidFill>
            <a:prstDash val="solid"/>
          </a:ln>
        </p:spPr>
      </p:sp>
      <p:sp>
        <p:nvSpPr>
          <p:cNvPr id="22" name="Text 20"/>
          <p:cNvSpPr txBox="1"/>
          <p:nvPr/>
        </p:nvSpPr>
        <p:spPr>
          <a:xfrm>
            <a:off x="9235440" y="196596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a:t>
            </a:r>
            <a:endParaRPr lang="en-US" sz="2000" dirty="0"/>
          </a:p>
        </p:txBody>
      </p:sp>
      <p:sp>
        <p:nvSpPr>
          <p:cNvPr id="23" name="Text 21"/>
          <p:cNvSpPr txBox="1"/>
          <p:nvPr/>
        </p:nvSpPr>
        <p:spPr>
          <a:xfrm>
            <a:off x="9235440" y="274320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Shyam</a:t>
            </a:r>
            <a:endParaRPr lang="en-US" sz="1400" dirty="0"/>
          </a:p>
        </p:txBody>
      </p:sp>
      <p:sp>
        <p:nvSpPr>
          <p:cNvPr id="24" name="Text 22"/>
          <p:cNvSpPr txBox="1"/>
          <p:nvPr/>
        </p:nvSpPr>
        <p:spPr>
          <a:xfrm>
            <a:off x="9235440" y="3218688"/>
            <a:ext cx="2286000" cy="274320"/>
          </a:xfrm>
          <a:prstGeom prst="rect">
            <a:avLst/>
          </a:prstGeom>
          <a:noFill/>
          <a:ln/>
        </p:spPr>
        <p:txBody>
          <a:bodyPr wrap="square" lIns="0" tIns="0" rIns="0" bIns="0" rtlCol="0" anchor="ctr"/>
          <a:lstStyle/>
          <a:p>
            <a:pPr indent="0" marL="0">
              <a:buNone/>
            </a:pPr>
            <a:endParaRPr lang="en-US" sz="1200" dirty="0"/>
          </a:p>
        </p:txBody>
      </p:sp>
      <p:sp>
        <p:nvSpPr>
          <p:cNvPr id="25" name="Shape 23"/>
          <p:cNvSpPr/>
          <p:nvPr/>
        </p:nvSpPr>
        <p:spPr>
          <a:xfrm>
            <a:off x="548640" y="3749040"/>
            <a:ext cx="2651760" cy="1737360"/>
          </a:xfrm>
          <a:prstGeom prst="roundRect">
            <a:avLst>
              <a:gd name="adj" fmla="val 5263"/>
            </a:avLst>
          </a:prstGeom>
          <a:solidFill>
            <a:srgbClr val="EEF2F7"/>
          </a:solidFill>
          <a:ln w="12700">
            <a:solidFill>
              <a:srgbClr val="EEF2F7"/>
            </a:solidFill>
            <a:prstDash val="solid"/>
          </a:ln>
        </p:spPr>
      </p:sp>
      <p:sp>
        <p:nvSpPr>
          <p:cNvPr id="26" name="Shape 24"/>
          <p:cNvSpPr/>
          <p:nvPr/>
        </p:nvSpPr>
        <p:spPr>
          <a:xfrm>
            <a:off x="731520" y="3977640"/>
            <a:ext cx="731520" cy="731520"/>
          </a:xfrm>
          <a:prstGeom prst="ellipse">
            <a:avLst/>
          </a:prstGeom>
          <a:solidFill>
            <a:srgbClr val="2A9D8F"/>
          </a:solidFill>
          <a:ln w="12700">
            <a:solidFill>
              <a:srgbClr val="2A9D8F"/>
            </a:solidFill>
            <a:prstDash val="solid"/>
          </a:ln>
        </p:spPr>
      </p:sp>
      <p:sp>
        <p:nvSpPr>
          <p:cNvPr id="27" name="Text 25"/>
          <p:cNvSpPr txBox="1"/>
          <p:nvPr/>
        </p:nvSpPr>
        <p:spPr>
          <a:xfrm>
            <a:off x="731520" y="39776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SV</a:t>
            </a:r>
            <a:endParaRPr lang="en-US" sz="2000" dirty="0"/>
          </a:p>
        </p:txBody>
      </p:sp>
      <p:sp>
        <p:nvSpPr>
          <p:cNvPr id="28" name="Text 26"/>
          <p:cNvSpPr txBox="1"/>
          <p:nvPr/>
        </p:nvSpPr>
        <p:spPr>
          <a:xfrm>
            <a:off x="731520" y="475488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Sai Vamsi Krishna Posani</a:t>
            </a:r>
            <a:endParaRPr lang="en-US" sz="1400" dirty="0"/>
          </a:p>
        </p:txBody>
      </p:sp>
      <p:sp>
        <p:nvSpPr>
          <p:cNvPr id="29" name="Text 27"/>
          <p:cNvSpPr txBox="1"/>
          <p:nvPr/>
        </p:nvSpPr>
        <p:spPr>
          <a:xfrm>
            <a:off x="731520" y="5230368"/>
            <a:ext cx="2286000" cy="274320"/>
          </a:xfrm>
          <a:prstGeom prst="rect">
            <a:avLst/>
          </a:prstGeom>
          <a:noFill/>
          <a:ln/>
        </p:spPr>
        <p:txBody>
          <a:bodyPr wrap="square" lIns="0" tIns="0" rIns="0" bIns="0" rtlCol="0" anchor="ctr"/>
          <a:lstStyle/>
          <a:p>
            <a:pPr indent="0" marL="0">
              <a:buNone/>
            </a:pPr>
            <a:endParaRPr lang="en-US" sz="1200" dirty="0"/>
          </a:p>
        </p:txBody>
      </p:sp>
      <p:sp>
        <p:nvSpPr>
          <p:cNvPr id="30" name="Shape 28"/>
          <p:cNvSpPr/>
          <p:nvPr/>
        </p:nvSpPr>
        <p:spPr>
          <a:xfrm>
            <a:off x="3383280" y="3749040"/>
            <a:ext cx="2651760" cy="1737360"/>
          </a:xfrm>
          <a:prstGeom prst="roundRect">
            <a:avLst>
              <a:gd name="adj" fmla="val 5263"/>
            </a:avLst>
          </a:prstGeom>
          <a:solidFill>
            <a:srgbClr val="EEF2F7"/>
          </a:solidFill>
          <a:ln w="12700">
            <a:solidFill>
              <a:srgbClr val="EEF2F7"/>
            </a:solidFill>
            <a:prstDash val="solid"/>
          </a:ln>
        </p:spPr>
      </p:sp>
      <p:sp>
        <p:nvSpPr>
          <p:cNvPr id="31" name="Shape 29"/>
          <p:cNvSpPr/>
          <p:nvPr/>
        </p:nvSpPr>
        <p:spPr>
          <a:xfrm>
            <a:off x="3566160" y="3977640"/>
            <a:ext cx="731520" cy="731520"/>
          </a:xfrm>
          <a:prstGeom prst="ellipse">
            <a:avLst/>
          </a:prstGeom>
          <a:solidFill>
            <a:srgbClr val="2A9D8F"/>
          </a:solidFill>
          <a:ln w="12700">
            <a:solidFill>
              <a:srgbClr val="2A9D8F"/>
            </a:solidFill>
            <a:prstDash val="solid"/>
          </a:ln>
        </p:spPr>
      </p:sp>
      <p:sp>
        <p:nvSpPr>
          <p:cNvPr id="32" name="Text 30"/>
          <p:cNvSpPr txBox="1"/>
          <p:nvPr/>
        </p:nvSpPr>
        <p:spPr>
          <a:xfrm>
            <a:off x="3566160" y="39776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VB</a:t>
            </a:r>
            <a:endParaRPr lang="en-US" sz="2000" dirty="0"/>
          </a:p>
        </p:txBody>
      </p:sp>
      <p:sp>
        <p:nvSpPr>
          <p:cNvPr id="33" name="Text 31"/>
          <p:cNvSpPr txBox="1"/>
          <p:nvPr/>
        </p:nvSpPr>
        <p:spPr>
          <a:xfrm>
            <a:off x="3566160" y="475488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Vinay Bommireddy</a:t>
            </a:r>
            <a:endParaRPr lang="en-US" sz="1400" dirty="0"/>
          </a:p>
        </p:txBody>
      </p:sp>
      <p:sp>
        <p:nvSpPr>
          <p:cNvPr id="34" name="Text 32"/>
          <p:cNvSpPr txBox="1"/>
          <p:nvPr/>
        </p:nvSpPr>
        <p:spPr>
          <a:xfrm>
            <a:off x="3566160" y="5230368"/>
            <a:ext cx="2286000" cy="274320"/>
          </a:xfrm>
          <a:prstGeom prst="rect">
            <a:avLst/>
          </a:prstGeom>
          <a:noFill/>
          <a:ln/>
        </p:spPr>
        <p:txBody>
          <a:bodyPr wrap="square" lIns="0" tIns="0" rIns="0" bIns="0" rtlCol="0" anchor="ctr"/>
          <a:lstStyle/>
          <a:p>
            <a:pPr indent="0" marL="0">
              <a:buNone/>
            </a:pPr>
            <a:endParaRPr lang="en-US" sz="1200" dirty="0"/>
          </a:p>
        </p:txBody>
      </p:sp>
      <p:sp>
        <p:nvSpPr>
          <p:cNvPr id="35" name="Shape 33"/>
          <p:cNvSpPr/>
          <p:nvPr/>
        </p:nvSpPr>
        <p:spPr>
          <a:xfrm>
            <a:off x="6217920" y="3749040"/>
            <a:ext cx="2651760" cy="1737360"/>
          </a:xfrm>
          <a:prstGeom prst="roundRect">
            <a:avLst>
              <a:gd name="adj" fmla="val 5263"/>
            </a:avLst>
          </a:prstGeom>
          <a:solidFill>
            <a:srgbClr val="EEF2F7"/>
          </a:solidFill>
          <a:ln w="12700">
            <a:solidFill>
              <a:srgbClr val="EEF2F7"/>
            </a:solidFill>
            <a:prstDash val="solid"/>
          </a:ln>
        </p:spPr>
      </p:sp>
      <p:sp>
        <p:nvSpPr>
          <p:cNvPr id="36" name="Shape 34"/>
          <p:cNvSpPr/>
          <p:nvPr/>
        </p:nvSpPr>
        <p:spPr>
          <a:xfrm>
            <a:off x="6400800" y="3977640"/>
            <a:ext cx="731520" cy="731520"/>
          </a:xfrm>
          <a:prstGeom prst="ellipse">
            <a:avLst/>
          </a:prstGeom>
          <a:solidFill>
            <a:srgbClr val="2A9D8F"/>
          </a:solidFill>
          <a:ln w="12700">
            <a:solidFill>
              <a:srgbClr val="2A9D8F"/>
            </a:solidFill>
            <a:prstDash val="solid"/>
          </a:ln>
        </p:spPr>
      </p:sp>
      <p:sp>
        <p:nvSpPr>
          <p:cNvPr id="37" name="Text 35"/>
          <p:cNvSpPr txBox="1"/>
          <p:nvPr/>
        </p:nvSpPr>
        <p:spPr>
          <a:xfrm>
            <a:off x="6400800" y="397764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BS</a:t>
            </a:r>
            <a:endParaRPr lang="en-US" sz="2000" dirty="0"/>
          </a:p>
        </p:txBody>
      </p:sp>
      <p:sp>
        <p:nvSpPr>
          <p:cNvPr id="38" name="Text 36"/>
          <p:cNvSpPr txBox="1"/>
          <p:nvPr/>
        </p:nvSpPr>
        <p:spPr>
          <a:xfrm>
            <a:off x="6400800" y="4754880"/>
            <a:ext cx="2286000" cy="457200"/>
          </a:xfrm>
          <a:prstGeom prst="rect">
            <a:avLst/>
          </a:prstGeom>
          <a:noFill/>
          <a:ln/>
        </p:spPr>
        <p:txBody>
          <a:bodyPr wrap="square" lIns="0" tIns="0" rIns="0" bIns="0" rtlCol="0" anchor="t"/>
          <a:lstStyle/>
          <a:p>
            <a:pPr indent="0" marL="0">
              <a:buNone/>
            </a:pPr>
            <a:r>
              <a:rPr lang="en-US" sz="1400" b="1" dirty="0">
                <a:solidFill>
                  <a:srgbClr val="1F3A5F"/>
                </a:solidFill>
                <a:latin typeface="Cambria" pitchFamily="34" charset="0"/>
                <a:ea typeface="Cambria" pitchFamily="34" charset="-122"/>
                <a:cs typeface="Cambria" pitchFamily="34" charset="-120"/>
              </a:rPr>
              <a:t>Bandi Shivani</a:t>
            </a:r>
            <a:endParaRPr lang="en-US" sz="1400" dirty="0"/>
          </a:p>
        </p:txBody>
      </p:sp>
      <p:sp>
        <p:nvSpPr>
          <p:cNvPr id="39" name="Text 37"/>
          <p:cNvSpPr txBox="1"/>
          <p:nvPr/>
        </p:nvSpPr>
        <p:spPr>
          <a:xfrm>
            <a:off x="6400800" y="5230368"/>
            <a:ext cx="2286000" cy="274320"/>
          </a:xfrm>
          <a:prstGeom prst="rect">
            <a:avLst/>
          </a:prstGeom>
          <a:noFill/>
          <a:ln/>
        </p:spPr>
        <p:txBody>
          <a:bodyPr wrap="square" lIns="0" tIns="0" rIns="0" bIns="0" rtlCol="0" anchor="ctr"/>
          <a:lstStyle/>
          <a:p>
            <a:pPr indent="0" marL="0">
              <a:buNone/>
            </a:pP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PROBLEM STATEMENT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Multilingual reviews outpace the team reading them</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749040"/>
                <a:gridCol w="3657600"/>
                <a:gridCol w="36576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How it is handled today</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Where it fails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 3-star review: “I love the sound but it turns itself back on.”</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Counted as a neutral star in an average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The product fault is invisible in the average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“Arrived late and the box was crushed.”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An agent reads it and replies by hand, or it is skipped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Two issues mixed, reply late and generic</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 Japanese review with one annoying flaw</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Copied into a translator by whoever reads Japanese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Slow, not repeatable, reply in the wrong language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 week of delayed-shipment complaints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Found in a monthly report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Alert arrives weeks late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6" name="Text 3"/>
          <p:cNvSpPr txBox="1"/>
          <p:nvPr/>
        </p:nvSpPr>
        <p:spPr>
          <a:xfrm>
            <a:off x="548640" y="4892040"/>
            <a:ext cx="320040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6</a:t>
            </a:r>
            <a:endParaRPr lang="en-US" sz="4400" dirty="0"/>
          </a:p>
        </p:txBody>
      </p:sp>
      <p:sp>
        <p:nvSpPr>
          <p:cNvPr id="7" name="Text 4"/>
          <p:cNvSpPr txBox="1"/>
          <p:nvPr/>
        </p:nvSpPr>
        <p:spPr>
          <a:xfrm>
            <a:off x="548640" y="5715000"/>
            <a:ext cx="32004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languages: English, German, Spanish, French, Japanese, Chinese</a:t>
            </a:r>
            <a:endParaRPr lang="en-US" sz="1300" dirty="0"/>
          </a:p>
        </p:txBody>
      </p:sp>
      <p:sp>
        <p:nvSpPr>
          <p:cNvPr id="8" name="Text 5"/>
          <p:cNvSpPr txBox="1"/>
          <p:nvPr/>
        </p:nvSpPr>
        <p:spPr>
          <a:xfrm>
            <a:off x="4206240" y="4892040"/>
            <a:ext cx="320040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~24 h</a:t>
            </a:r>
            <a:endParaRPr lang="en-US" sz="4400" dirty="0"/>
          </a:p>
        </p:txBody>
      </p:sp>
      <p:sp>
        <p:nvSpPr>
          <p:cNvPr id="9" name="Text 6"/>
          <p:cNvSpPr txBox="1"/>
          <p:nvPr/>
        </p:nvSpPr>
        <p:spPr>
          <a:xfrm>
            <a:off x="4206240" y="5715000"/>
            <a:ext cx="32004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typical time to a reply when handled by hand</a:t>
            </a:r>
            <a:endParaRPr lang="en-US" sz="1300" dirty="0"/>
          </a:p>
        </p:txBody>
      </p:sp>
      <p:sp>
        <p:nvSpPr>
          <p:cNvPr id="10" name="Text 7"/>
          <p:cNvSpPr txBox="1"/>
          <p:nvPr/>
        </p:nvSpPr>
        <p:spPr>
          <a:xfrm>
            <a:off x="7863840" y="4892040"/>
            <a:ext cx="374904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1,000+</a:t>
            </a:r>
            <a:endParaRPr lang="en-US" sz="4400" dirty="0"/>
          </a:p>
        </p:txBody>
      </p:sp>
      <p:sp>
        <p:nvSpPr>
          <p:cNvPr id="11" name="Text 8"/>
          <p:cNvSpPr txBox="1"/>
          <p:nvPr/>
        </p:nvSpPr>
        <p:spPr>
          <a:xfrm>
            <a:off x="7863840" y="5715000"/>
            <a:ext cx="374904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reviews a day the team should be able to handle</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PROPOSED SOLUTION</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Our solution: one pipeline from review to reply to alert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fig_architecture.png">    </p:cNvPr>
          <p:cNvPicPr>
            <a:picLocks noChangeAspect="1"/>
          </p:cNvPicPr>
          <p:nvPr/>
        </p:nvPicPr>
        <p:blipFill>
          <a:blip r:embed="rId1"/>
          <a:stretch>
            <a:fillRect/>
          </a:stretch>
        </p:blipFill>
        <p:spPr>
          <a:xfrm>
            <a:off x="548640" y="1508760"/>
            <a:ext cx="7589520" cy="3886200"/>
          </a:xfrm>
          <a:prstGeom prst="rect">
            <a:avLst/>
          </a:prstGeom>
        </p:spPr>
      </p:pic>
      <p:sp>
        <p:nvSpPr>
          <p:cNvPr id="6" name="Shape 3"/>
          <p:cNvSpPr/>
          <p:nvPr/>
        </p:nvSpPr>
        <p:spPr>
          <a:xfrm>
            <a:off x="8412480" y="1508760"/>
            <a:ext cx="3246120" cy="3886200"/>
          </a:xfrm>
          <a:prstGeom prst="roundRect">
            <a:avLst>
              <a:gd name="adj" fmla="val 2817"/>
            </a:avLst>
          </a:prstGeom>
          <a:solidFill>
            <a:srgbClr val="EEF2F7"/>
          </a:solidFill>
          <a:ln w="12700">
            <a:solidFill>
              <a:srgbClr val="EEF2F7"/>
            </a:solidFill>
            <a:prstDash val="solid"/>
          </a:ln>
        </p:spPr>
      </p:sp>
      <p:sp>
        <p:nvSpPr>
          <p:cNvPr id="7" name="Text 4"/>
          <p:cNvSpPr txBox="1"/>
          <p:nvPr/>
        </p:nvSpPr>
        <p:spPr>
          <a:xfrm>
            <a:off x="8595360" y="1645920"/>
            <a:ext cx="288036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Design choices</a:t>
            </a:r>
            <a:endParaRPr lang="en-US" sz="1600" dirty="0"/>
          </a:p>
        </p:txBody>
      </p:sp>
      <p:sp>
        <p:nvSpPr>
          <p:cNvPr id="8" name="Text 5"/>
          <p:cNvSpPr txBox="1"/>
          <p:nvPr/>
        </p:nvSpPr>
        <p:spPr>
          <a:xfrm>
            <a:off x="8595360" y="2057400"/>
            <a:ext cx="2880360" cy="32004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Claude Haiku 4.5 for every language step: fast and cheap</a:t>
            </a:r>
            <a:endParaRPr lang="en-US" sz="1400" dirty="0"/>
          </a:p>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Claude Sonnet 5 judges the replies, so no model grades itself</a:t>
            </a:r>
            <a:endParaRPr lang="en-US" sz="1400" dirty="0"/>
          </a:p>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Negative replies always wait for a human</a:t>
            </a:r>
            <a:endParaRPr lang="en-US" sz="1400" dirty="0"/>
          </a:p>
          <a:p>
            <a:pPr marL="342900" indent="-342900">
              <a:spcAft>
                <a:spcPts val="400"/>
              </a:spcAft>
              <a:buSzPct val="100000"/>
              <a:buChar char="•"/>
            </a:pPr>
            <a:r>
              <a:rPr lang="en-US" sz="1400" dirty="0">
                <a:solidFill>
                  <a:srgbClr val="1B2733"/>
                </a:solidFill>
                <a:latin typeface="Calibri" pitchFamily="34" charset="0"/>
                <a:ea typeface="Calibri" pitchFamily="34" charset="-122"/>
                <a:cs typeface="Calibri" pitchFamily="34" charset="-120"/>
              </a:rPr>
              <a:t>Versioned prompts, spend cap, every call logged</a:t>
            </a:r>
            <a:endParaRPr lang="en-US" sz="1400" dirty="0"/>
          </a:p>
        </p:txBody>
      </p:sp>
      <p:sp>
        <p:nvSpPr>
          <p:cNvPr id="9" name="Text 6"/>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400" dirty="0">
                <a:solidFill>
                  <a:srgbClr val="5A6470"/>
                </a:solidFill>
                <a:latin typeface="Calibri" pitchFamily="34" charset="0"/>
                <a:ea typeface="Calibri" pitchFamily="34" charset="-122"/>
                <a:cs typeface="Calibri" pitchFamily="34" charset="-120"/>
              </a:rPr>
              <a:t>Tools: n8n, Claude API, Google Sheets, Slack, FastAPI, sentence-transformers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DATA AND PIPELINE DESIGN</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Real reviews in six languages, and what the data lacks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Text 3"/>
          <p:cNvSpPr txBox="1"/>
          <p:nvPr/>
        </p:nvSpPr>
        <p:spPr>
          <a:xfrm>
            <a:off x="548640" y="1645920"/>
            <a:ext cx="256032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1,200</a:t>
            </a:r>
            <a:endParaRPr lang="en-US" sz="4400" dirty="0"/>
          </a:p>
        </p:txBody>
      </p:sp>
      <p:sp>
        <p:nvSpPr>
          <p:cNvPr id="6" name="Text 4"/>
          <p:cNvSpPr txBox="1"/>
          <p:nvPr/>
        </p:nvSpPr>
        <p:spPr>
          <a:xfrm>
            <a:off x="54864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reviews in the main sample: 200 per language, 240 per star</a:t>
            </a:r>
            <a:endParaRPr lang="en-US" sz="1300" dirty="0"/>
          </a:p>
        </p:txBody>
      </p:sp>
      <p:sp>
        <p:nvSpPr>
          <p:cNvPr id="7" name="Text 5"/>
          <p:cNvSpPr txBox="1"/>
          <p:nvPr/>
        </p:nvSpPr>
        <p:spPr>
          <a:xfrm>
            <a:off x="3383280" y="1645920"/>
            <a:ext cx="256032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960</a:t>
            </a:r>
            <a:endParaRPr lang="en-US" sz="4400" dirty="0"/>
          </a:p>
        </p:txBody>
      </p:sp>
      <p:sp>
        <p:nvSpPr>
          <p:cNvPr id="8" name="Text 6"/>
          <p:cNvSpPr txBox="1"/>
          <p:nvPr/>
        </p:nvSpPr>
        <p:spPr>
          <a:xfrm>
            <a:off x="338328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held-out test reviews, scored once, never tuned on</a:t>
            </a:r>
            <a:endParaRPr lang="en-US" sz="1300" dirty="0"/>
          </a:p>
        </p:txBody>
      </p:sp>
      <p:sp>
        <p:nvSpPr>
          <p:cNvPr id="9" name="Text 7"/>
          <p:cNvSpPr txBox="1"/>
          <p:nvPr/>
        </p:nvSpPr>
        <p:spPr>
          <a:xfrm>
            <a:off x="6217920" y="1645920"/>
            <a:ext cx="256032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240</a:t>
            </a:r>
            <a:endParaRPr lang="en-US" sz="4400" dirty="0"/>
          </a:p>
        </p:txBody>
      </p:sp>
      <p:sp>
        <p:nvSpPr>
          <p:cNvPr id="10" name="Text 8"/>
          <p:cNvSpPr txBox="1"/>
          <p:nvPr/>
        </p:nvSpPr>
        <p:spPr>
          <a:xfrm>
            <a:off x="621792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development reviews used to choose prompts</a:t>
            </a:r>
            <a:endParaRPr lang="en-US" sz="1300" dirty="0"/>
          </a:p>
        </p:txBody>
      </p:sp>
      <p:sp>
        <p:nvSpPr>
          <p:cNvPr id="11" name="Text 9"/>
          <p:cNvSpPr txBox="1"/>
          <p:nvPr/>
        </p:nvSpPr>
        <p:spPr>
          <a:xfrm>
            <a:off x="9052560" y="1645920"/>
            <a:ext cx="256032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1,560</a:t>
            </a:r>
            <a:endParaRPr lang="en-US" sz="4400" dirty="0"/>
          </a:p>
        </p:txBody>
      </p:sp>
      <p:sp>
        <p:nvSpPr>
          <p:cNvPr id="12" name="Text 10"/>
          <p:cNvSpPr txBox="1"/>
          <p:nvPr/>
        </p:nvSpPr>
        <p:spPr>
          <a:xfrm>
            <a:off x="9052560" y="2468880"/>
            <a:ext cx="25603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analysed reviews on the dashboard</a:t>
            </a:r>
            <a:endParaRPr lang="en-US" sz="1300" dirty="0"/>
          </a:p>
        </p:txBody>
      </p:sp>
      <p:sp>
        <p:nvSpPr>
          <p:cNvPr id="13" name="Shape 11"/>
          <p:cNvSpPr/>
          <p:nvPr/>
        </p:nvSpPr>
        <p:spPr>
          <a:xfrm>
            <a:off x="548640" y="3474720"/>
            <a:ext cx="5394960" cy="2651760"/>
          </a:xfrm>
          <a:prstGeom prst="roundRect">
            <a:avLst>
              <a:gd name="adj" fmla="val 3448"/>
            </a:avLst>
          </a:prstGeom>
          <a:solidFill>
            <a:srgbClr val="EEF2F7"/>
          </a:solidFill>
          <a:ln w="12700">
            <a:solidFill>
              <a:srgbClr val="EEF2F7"/>
            </a:solidFill>
            <a:prstDash val="solid"/>
          </a:ln>
        </p:spPr>
      </p:sp>
      <p:sp>
        <p:nvSpPr>
          <p:cNvPr id="14" name="Text 12"/>
          <p:cNvSpPr txBox="1"/>
          <p:nvPr/>
        </p:nvSpPr>
        <p:spPr>
          <a:xfrm>
            <a:off x="731520" y="361188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Dataset</a:t>
            </a:r>
            <a:endParaRPr lang="en-US" sz="1600" dirty="0"/>
          </a:p>
        </p:txBody>
      </p:sp>
      <p:sp>
        <p:nvSpPr>
          <p:cNvPr id="15" name="Text 13"/>
          <p:cNvSpPr txBox="1"/>
          <p:nvPr/>
        </p:nvSpPr>
        <p:spPr>
          <a:xfrm>
            <a:off x="731520" y="4023360"/>
            <a:ext cx="5029200" cy="1965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Multilingual Amazon Reviews Corpus (Kaggle copy)</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Sentiment labels come from stars: 1-2 negative, 3 neutral, 4-5 positive</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Stratified sample: the source files are sorted by star</a:t>
            </a:r>
            <a:endParaRPr lang="en-US" sz="1300" dirty="0"/>
          </a:p>
        </p:txBody>
      </p:sp>
      <p:sp>
        <p:nvSpPr>
          <p:cNvPr id="16" name="Shape 14"/>
          <p:cNvSpPr/>
          <p:nvPr/>
        </p:nvSpPr>
        <p:spPr>
          <a:xfrm>
            <a:off x="6217920" y="3474720"/>
            <a:ext cx="5394960" cy="2651760"/>
          </a:xfrm>
          <a:prstGeom prst="roundRect">
            <a:avLst>
              <a:gd name="adj" fmla="val 3448"/>
            </a:avLst>
          </a:prstGeom>
          <a:solidFill>
            <a:srgbClr val="FFF4DC"/>
          </a:solidFill>
          <a:ln w="12700">
            <a:solidFill>
              <a:srgbClr val="FFF4DC"/>
            </a:solidFill>
            <a:prstDash val="solid"/>
          </a:ln>
        </p:spPr>
      </p:sp>
      <p:sp>
        <p:nvSpPr>
          <p:cNvPr id="17" name="Text 15"/>
          <p:cNvSpPr txBox="1"/>
          <p:nvPr/>
        </p:nvSpPr>
        <p:spPr>
          <a:xfrm>
            <a:off x="6400800" y="361188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What the data does not have</a:t>
            </a:r>
            <a:endParaRPr lang="en-US" sz="1600" dirty="0"/>
          </a:p>
        </p:txBody>
      </p:sp>
      <p:sp>
        <p:nvSpPr>
          <p:cNvPr id="18" name="Text 16"/>
          <p:cNvSpPr txBox="1"/>
          <p:nvPr/>
        </p:nvSpPr>
        <p:spPr>
          <a:xfrm>
            <a:off x="6400800" y="4023360"/>
            <a:ext cx="5029200" cy="1965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No review dates: trend stage uses simulated weeks with planted spikes</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Stars are a noisy proxy for text sentiment</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No human labels for topics or issues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1: TRANSLATE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Translation: Claude is as good as Groq and steadier</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743200"/>
                <a:gridCol w="2011680"/>
                <a:gridCol w="20116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40 reviews, 5 languages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Groq Qwen 27B</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Claude Haiku 4.5</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Valid JSON, ids match, language right</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40/40</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40/40</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Latency per batch of 8</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1.5 s to 58 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5.6 s to 21.7 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Cost</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Free tier</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600" dirty="0">
                          <a:solidFill>
                            <a:srgbClr val="1B2733"/>
                          </a:solidFill>
                          <a:latin typeface="Calibri" pitchFamily="34" charset="0"/>
                          <a:ea typeface="Calibri" pitchFamily="34" charset="-122"/>
                          <a:cs typeface="Calibri" pitchFamily="34" charset="-120"/>
                        </a:rPr>
                        <a:t>$0.54 per 1,000 reviews</a:t>
                      </a:r>
                      <a:endParaRPr lang="en-US" sz="16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bl>
          </a:graphicData>
        </a:graphic>
      </p:graphicFrame>
      <p:sp>
        <p:nvSpPr>
          <p:cNvPr id="6" name="Shape 3"/>
          <p:cNvSpPr/>
          <p:nvPr/>
        </p:nvSpPr>
        <p:spPr>
          <a:xfrm>
            <a:off x="7680960" y="1645920"/>
            <a:ext cx="3931920" cy="2377440"/>
          </a:xfrm>
          <a:prstGeom prst="roundRect">
            <a:avLst>
              <a:gd name="adj" fmla="val 3846"/>
            </a:avLst>
          </a:prstGeom>
          <a:solidFill>
            <a:srgbClr val="EEF2F7"/>
          </a:solidFill>
          <a:ln w="12700">
            <a:solidFill>
              <a:srgbClr val="EEF2F7"/>
            </a:solidFill>
            <a:prstDash val="solid"/>
          </a:ln>
        </p:spPr>
      </p:sp>
      <p:sp>
        <p:nvSpPr>
          <p:cNvPr id="7" name="Text 4"/>
          <p:cNvSpPr txBox="1"/>
          <p:nvPr/>
        </p:nvSpPr>
        <p:spPr>
          <a:xfrm>
            <a:off x="7863840" y="1783080"/>
            <a:ext cx="356616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Why Claude only</a:t>
            </a:r>
            <a:endParaRPr lang="en-US" sz="1600" dirty="0"/>
          </a:p>
        </p:txBody>
      </p:sp>
      <p:sp>
        <p:nvSpPr>
          <p:cNvPr id="8" name="Text 5"/>
          <p:cNvSpPr txBox="1"/>
          <p:nvPr/>
        </p:nvSpPr>
        <p:spPr>
          <a:xfrm>
            <a:off x="7863840" y="2194560"/>
            <a:ext cx="3566160" cy="16916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Predictable latency</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Groq dropped its Llama chat models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One model family keeps the pipeline simple</a:t>
            </a:r>
            <a:endParaRPr lang="en-US" sz="1300" dirty="0"/>
          </a:p>
        </p:txBody>
      </p:sp>
      <p:sp>
        <p:nvSpPr>
          <p:cNvPr id="9" name="Shape 6"/>
          <p:cNvSpPr/>
          <p:nvPr/>
        </p:nvSpPr>
        <p:spPr>
          <a:xfrm>
            <a:off x="548640" y="4297680"/>
            <a:ext cx="11064240" cy="1828800"/>
          </a:xfrm>
          <a:prstGeom prst="roundRect">
            <a:avLst>
              <a:gd name="adj" fmla="val 5000"/>
            </a:avLst>
          </a:prstGeom>
          <a:solidFill>
            <a:srgbClr val="EEF2F7"/>
          </a:solidFill>
          <a:ln w="12700">
            <a:solidFill>
              <a:srgbClr val="EEF2F7"/>
            </a:solidFill>
            <a:prstDash val="solid"/>
          </a:ln>
        </p:spPr>
      </p:sp>
      <p:sp>
        <p:nvSpPr>
          <p:cNvPr id="10" name="Text 7"/>
          <p:cNvSpPr txBox="1"/>
          <p:nvPr/>
        </p:nvSpPr>
        <p:spPr>
          <a:xfrm>
            <a:off x="731520" y="4434840"/>
            <a:ext cx="106984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In the n8n workflow</a:t>
            </a:r>
            <a:endParaRPr lang="en-US" sz="1600" dirty="0"/>
          </a:p>
        </p:txBody>
      </p:sp>
      <p:sp>
        <p:nvSpPr>
          <p:cNvPr id="11" name="Text 8"/>
          <p:cNvSpPr txBox="1"/>
          <p:nvPr/>
        </p:nvSpPr>
        <p:spPr>
          <a:xfrm>
            <a:off x="731520" y="4846320"/>
            <a:ext cx="10698480" cy="11430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8 reviews per call, 3 retries, failures recorded per review</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120 reviews: 100 translated, 20 English skipped, 0 failed</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Invalid API key: run finishes and marks every review failed</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2: ANALYSE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Sentiment: two-way target met, three-way not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06640" y="1554480"/>
            <a:ext cx="4206240" cy="4206240"/>
          </a:xfrm>
          <a:prstGeom prst="roundRect">
            <a:avLst>
              <a:gd name="adj" fmla="val 2174"/>
            </a:avLst>
          </a:prstGeom>
          <a:solidFill>
            <a:srgbClr val="EEF2F7"/>
          </a:solidFill>
          <a:ln w="12700">
            <a:solidFill>
              <a:srgbClr val="EEF2F7"/>
            </a:solidFill>
            <a:prstDash val="solid"/>
          </a:ln>
        </p:spPr>
      </p:sp>
      <p:sp>
        <p:nvSpPr>
          <p:cNvPr id="7" name="Text 4"/>
          <p:cNvSpPr txBox="1"/>
          <p:nvPr/>
        </p:nvSpPr>
        <p:spPr>
          <a:xfrm>
            <a:off x="7589520" y="1691640"/>
            <a:ext cx="38404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What we found</a:t>
            </a:r>
            <a:endParaRPr lang="en-US" sz="1600" dirty="0"/>
          </a:p>
        </p:txBody>
      </p:sp>
      <p:sp>
        <p:nvSpPr>
          <p:cNvPr id="8" name="Text 5"/>
          <p:cNvSpPr txBox="1"/>
          <p:nvPr/>
        </p:nvSpPr>
        <p:spPr>
          <a:xfrm>
            <a:off x="7589520" y="2103120"/>
            <a:ext cx="3840480" cy="3520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88.4% positive vs negative: target of 85% met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78.1% three-way: target not met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The gap is the neutral class (3 stars): recall only 37%, because 3-star reviews are truly mixed</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 stacking model added nothing (75-78%)</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Star error 0.47; 95.6% within one star</a:t>
            </a:r>
            <a:endParaRPr lang="en-US" sz="1300" dirty="0"/>
          </a:p>
        </p:txBody>
      </p:sp>
      <p:sp>
        <p:nvSpPr>
          <p:cNvPr id="9" name="Text 6"/>
          <p:cNvSpPr txBox="1"/>
          <p:nvPr/>
        </p:nvSpPr>
        <p:spPr>
          <a:xfrm>
            <a:off x="548640" y="5852160"/>
            <a:ext cx="11064240" cy="45720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Ground truth is derived from star ratings, which is a noisy proxy. We report the limit instead of tuning around it.</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3: FIND THE ISSUES</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Clustering: describe the issue in English, then group</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54480"/>
          <a:ext cx="4754880" cy="36576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577840" y="1554480"/>
            <a:ext cx="6035040" cy="3657600"/>
          </a:xfrm>
          <a:prstGeom prst="roundRect">
            <a:avLst>
              <a:gd name="adj" fmla="val 2500"/>
            </a:avLst>
          </a:prstGeom>
          <a:solidFill>
            <a:srgbClr val="EEF2F7"/>
          </a:solidFill>
          <a:ln w="12700">
            <a:solidFill>
              <a:srgbClr val="EEF2F7"/>
            </a:solidFill>
            <a:prstDash val="solid"/>
          </a:ln>
        </p:spPr>
      </p:sp>
      <p:sp>
        <p:nvSpPr>
          <p:cNvPr id="7" name="Text 4"/>
          <p:cNvSpPr txBox="1"/>
          <p:nvPr/>
        </p:nvSpPr>
        <p:spPr>
          <a:xfrm>
            <a:off x="5760720" y="1691640"/>
            <a:ext cx="56692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13 named issue categories, mixing all six languages</a:t>
            </a:r>
            <a:endParaRPr lang="en-US" sz="1600" dirty="0"/>
          </a:p>
        </p:txBody>
      </p:sp>
      <p:sp>
        <p:nvSpPr>
          <p:cNvPr id="8" name="Text 5"/>
          <p:cNvSpPr txBox="1"/>
          <p:nvPr/>
        </p:nvSpPr>
        <p:spPr>
          <a:xfrm>
            <a:off x="5760720" y="2103120"/>
            <a:ext cx="566928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Delayed or missing shipments and poor support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Damaged packaging and product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Wrong item received; missing parts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Product fails soon after purchase</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Connectivity and performance issues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Design flaws and uncomfortable fit</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Overpriced and rapid price drops ... and 6 more</a:t>
            </a:r>
            <a:endParaRPr lang="en-US" sz="1300" dirty="0"/>
          </a:p>
        </p:txBody>
      </p:sp>
      <p:sp>
        <p:nvSpPr>
          <p:cNvPr id="9" name="Text 6"/>
          <p:cNvSpPr txBox="1"/>
          <p:nvPr/>
        </p:nvSpPr>
        <p:spPr>
          <a:xfrm>
            <a:off x="548640" y="5394960"/>
            <a:ext cx="11064240" cy="822960"/>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Translate-then-analyse beats native text (1.6x). HDBSCAN found mostly noise, so we use k-means with k = 13. Inside n8n, Claude assigns the category (43% agreement with k-means; k-means is not ground truth).</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4: ALERT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Spike detection: 3 planted spikes found, 1 false alarm</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0876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0" y="1508760"/>
            <a:ext cx="1645920" cy="822960"/>
          </a:xfrm>
          <a:prstGeom prst="rect">
            <a:avLst/>
          </a:prstGeom>
          <a:noFill/>
          <a:ln/>
        </p:spPr>
        <p:txBody>
          <a:bodyPr wrap="square" lIns="0" tIns="0" rIns="0" bIns="0" rtlCol="0" anchor="ctr"/>
          <a:lstStyle/>
          <a:p>
            <a:pPr indent="0" marL="0">
              <a:buNone/>
            </a:pPr>
            <a:r>
              <a:rPr lang="en-US" sz="3400" b="1" dirty="0">
                <a:solidFill>
                  <a:srgbClr val="2A9D8F"/>
                </a:solidFill>
                <a:latin typeface="Cambria" pitchFamily="34" charset="0"/>
                <a:ea typeface="Cambria" pitchFamily="34" charset="-122"/>
                <a:cs typeface="Cambria" pitchFamily="34" charset="-120"/>
              </a:rPr>
              <a:t>88.6%</a:t>
            </a:r>
            <a:endParaRPr lang="en-US" sz="3400" dirty="0"/>
          </a:p>
        </p:txBody>
      </p:sp>
      <p:sp>
        <p:nvSpPr>
          <p:cNvPr id="7" name="Text 4"/>
          <p:cNvSpPr txBox="1"/>
          <p:nvPr/>
        </p:nvSpPr>
        <p:spPr>
          <a:xfrm>
            <a:off x="8229600" y="2331720"/>
            <a:ext cx="16459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precision</a:t>
            </a:r>
            <a:endParaRPr lang="en-US" sz="1300" dirty="0"/>
          </a:p>
        </p:txBody>
      </p:sp>
      <p:sp>
        <p:nvSpPr>
          <p:cNvPr id="8" name="Text 5"/>
          <p:cNvSpPr txBox="1"/>
          <p:nvPr/>
        </p:nvSpPr>
        <p:spPr>
          <a:xfrm>
            <a:off x="9966960" y="1508760"/>
            <a:ext cx="1645920" cy="822960"/>
          </a:xfrm>
          <a:prstGeom prst="rect">
            <a:avLst/>
          </a:prstGeom>
          <a:noFill/>
          <a:ln/>
        </p:spPr>
        <p:txBody>
          <a:bodyPr wrap="square" lIns="0" tIns="0" rIns="0" bIns="0" rtlCol="0" anchor="ctr"/>
          <a:lstStyle/>
          <a:p>
            <a:pPr indent="0" marL="0">
              <a:buNone/>
            </a:pPr>
            <a:r>
              <a:rPr lang="en-US" sz="3400" b="1" dirty="0">
                <a:solidFill>
                  <a:srgbClr val="1F3A5F"/>
                </a:solidFill>
                <a:latin typeface="Cambria" pitchFamily="34" charset="0"/>
                <a:ea typeface="Cambria" pitchFamily="34" charset="-122"/>
                <a:cs typeface="Cambria" pitchFamily="34" charset="-120"/>
              </a:rPr>
              <a:t>94.3%</a:t>
            </a:r>
            <a:endParaRPr lang="en-US" sz="3400" dirty="0"/>
          </a:p>
        </p:txBody>
      </p:sp>
      <p:sp>
        <p:nvSpPr>
          <p:cNvPr id="9" name="Text 6"/>
          <p:cNvSpPr txBox="1"/>
          <p:nvPr/>
        </p:nvSpPr>
        <p:spPr>
          <a:xfrm>
            <a:off x="9966960" y="2331720"/>
            <a:ext cx="16459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recall</a:t>
            </a:r>
            <a:endParaRPr lang="en-US" sz="1300" dirty="0"/>
          </a:p>
        </p:txBody>
      </p:sp>
      <p:sp>
        <p:nvSpPr>
          <p:cNvPr id="10" name="Shape 7"/>
          <p:cNvSpPr/>
          <p:nvPr/>
        </p:nvSpPr>
        <p:spPr>
          <a:xfrm>
            <a:off x="8229600" y="3200400"/>
            <a:ext cx="3383280" cy="2514600"/>
          </a:xfrm>
          <a:prstGeom prst="roundRect">
            <a:avLst>
              <a:gd name="adj" fmla="val 3636"/>
            </a:avLst>
          </a:prstGeom>
          <a:solidFill>
            <a:srgbClr val="EEF2F7"/>
          </a:solidFill>
          <a:ln w="12700">
            <a:solidFill>
              <a:srgbClr val="EEF2F7"/>
            </a:solidFill>
            <a:prstDash val="solid"/>
          </a:ln>
        </p:spPr>
      </p:sp>
      <p:sp>
        <p:nvSpPr>
          <p:cNvPr id="11" name="Text 8"/>
          <p:cNvSpPr txBox="1"/>
          <p:nvPr/>
        </p:nvSpPr>
        <p:spPr>
          <a:xfrm>
            <a:off x="8412480" y="3337560"/>
            <a:ext cx="301752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How it works</a:t>
            </a:r>
            <a:endParaRPr lang="en-US" sz="1600" dirty="0"/>
          </a:p>
        </p:txBody>
      </p:sp>
      <p:sp>
        <p:nvSpPr>
          <p:cNvPr id="12" name="Text 9"/>
          <p:cNvSpPr txBox="1"/>
          <p:nvPr/>
        </p:nvSpPr>
        <p:spPr>
          <a:xfrm>
            <a:off x="8412480" y="3749040"/>
            <a:ext cx="30175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z-score vs the last 4 weeks, z &gt;= 3.5 and &gt;= 8 reviews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About 0.5 false alarms per 12 weeks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4 alerts posted to Slack</a:t>
            </a:r>
            <a:endParaRPr lang="en-US" sz="1300" dirty="0"/>
          </a:p>
        </p:txBody>
      </p:sp>
      <p:sp>
        <p:nvSpPr>
          <p:cNvPr id="13" name="Text 10"/>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Dates are simulated and the threshold was tuned on the same simulation, so these numbers are optimistic. The fourth alert (missing parts) was not planted: a false alarm.</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COMPONENT 5: RESPOND</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Replies: guardrails plus an independent judge</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5" name="Chart 0" descr=""/>
          <p:cNvGraphicFramePr/>
          <p:nvPr/>
        </p:nvGraphicFramePr>
        <p:xfrm>
          <a:off x="548640" y="150876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949440" y="1508760"/>
            <a:ext cx="2286000" cy="822960"/>
          </a:xfrm>
          <a:prstGeom prst="rect">
            <a:avLst/>
          </a:prstGeom>
          <a:noFill/>
          <a:ln/>
        </p:spPr>
        <p:txBody>
          <a:bodyPr wrap="square" lIns="0" tIns="0" rIns="0" bIns="0" rtlCol="0" anchor="ctr"/>
          <a:lstStyle/>
          <a:p>
            <a:pPr indent="0" marL="0">
              <a:buNone/>
            </a:pPr>
            <a:r>
              <a:rPr lang="en-US" sz="4000" b="1" dirty="0">
                <a:solidFill>
                  <a:srgbClr val="E9A23B"/>
                </a:solidFill>
                <a:latin typeface="Cambria" pitchFamily="34" charset="0"/>
                <a:ea typeface="Cambria" pitchFamily="34" charset="-122"/>
                <a:cs typeface="Cambria" pitchFamily="34" charset="-120"/>
              </a:rPr>
              <a:t>79.2%</a:t>
            </a:r>
            <a:endParaRPr lang="en-US" sz="4000" dirty="0"/>
          </a:p>
        </p:txBody>
      </p:sp>
      <p:sp>
        <p:nvSpPr>
          <p:cNvPr id="7" name="Text 4"/>
          <p:cNvSpPr txBox="1"/>
          <p:nvPr/>
        </p:nvSpPr>
        <p:spPr>
          <a:xfrm>
            <a:off x="6949440" y="2331720"/>
            <a:ext cx="22860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judge-acceptable with prompt v2 (v1: 68.8%)</a:t>
            </a:r>
            <a:endParaRPr lang="en-US" sz="1300" dirty="0"/>
          </a:p>
        </p:txBody>
      </p:sp>
      <p:sp>
        <p:nvSpPr>
          <p:cNvPr id="8" name="Text 5"/>
          <p:cNvSpPr txBox="1"/>
          <p:nvPr/>
        </p:nvSpPr>
        <p:spPr>
          <a:xfrm>
            <a:off x="9418320" y="1508760"/>
            <a:ext cx="219456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0</a:t>
            </a:r>
            <a:endParaRPr lang="en-US" sz="4400" dirty="0"/>
          </a:p>
        </p:txBody>
      </p:sp>
      <p:sp>
        <p:nvSpPr>
          <p:cNvPr id="9" name="Text 6"/>
          <p:cNvSpPr txBox="1"/>
          <p:nvPr/>
        </p:nvSpPr>
        <p:spPr>
          <a:xfrm>
            <a:off x="9418320" y="2331720"/>
            <a:ext cx="21945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wrong-language replies; 0 promised outcomes with v2</a:t>
            </a:r>
            <a:endParaRPr lang="en-US" sz="1300" dirty="0"/>
          </a:p>
        </p:txBody>
      </p:sp>
      <p:sp>
        <p:nvSpPr>
          <p:cNvPr id="10" name="Shape 7"/>
          <p:cNvSpPr/>
          <p:nvPr/>
        </p:nvSpPr>
        <p:spPr>
          <a:xfrm>
            <a:off x="6949440" y="3200400"/>
            <a:ext cx="4663440" cy="2240280"/>
          </a:xfrm>
          <a:prstGeom prst="roundRect">
            <a:avLst>
              <a:gd name="adj" fmla="val 4082"/>
            </a:avLst>
          </a:prstGeom>
          <a:solidFill>
            <a:srgbClr val="EEF2F7"/>
          </a:solidFill>
          <a:ln w="12700">
            <a:solidFill>
              <a:srgbClr val="EEF2F7"/>
            </a:solidFill>
            <a:prstDash val="solid"/>
          </a:ln>
        </p:spPr>
      </p:sp>
      <p:sp>
        <p:nvSpPr>
          <p:cNvPr id="11" name="Text 8"/>
          <p:cNvSpPr txBox="1"/>
          <p:nvPr/>
        </p:nvSpPr>
        <p:spPr>
          <a:xfrm>
            <a:off x="7132320" y="3337560"/>
            <a:ext cx="42976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Guardrails</a:t>
            </a:r>
            <a:endParaRPr lang="en-US" sz="1600" dirty="0"/>
          </a:p>
        </p:txBody>
      </p:sp>
      <p:sp>
        <p:nvSpPr>
          <p:cNvPr id="12" name="Text 9"/>
          <p:cNvSpPr txBox="1"/>
          <p:nvPr/>
        </p:nvSpPr>
        <p:spPr>
          <a:xfrm>
            <a:off x="7132320" y="3749040"/>
            <a:ext cx="4297680" cy="15544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Reply in the reviewer's language, 40 to 90 words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Only facts from the review; no refund, replacement or date promised</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Negative replies always go to a human</a:t>
            </a:r>
            <a:endParaRPr lang="en-US" sz="1300" dirty="0"/>
          </a:p>
        </p:txBody>
      </p:sp>
      <p:sp>
        <p:nvSpPr>
          <p:cNvPr id="13" name="Text 10"/>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400" b="1" dirty="0">
                <a:solidFill>
                  <a:srgbClr val="C8553D"/>
                </a:solidFill>
                <a:latin typeface="Calibri" pitchFamily="34" charset="0"/>
                <a:ea typeface="Calibri" pitchFamily="34" charset="-122"/>
                <a:cs typeface="Calibri" pitchFamily="34" charset="-120"/>
              </a:rPr>
              <a:t>Human acceptance was not measured: the 79.2% is a model's opinion. Weakest cases: neutral reviews (58%) and Japanese (62%).</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PUTTING IT TOGETHER</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End to end in n8n, with an API and a dashboard</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3566160" cy="3017520"/>
          </a:xfrm>
          <a:prstGeom prst="roundRect">
            <a:avLst>
              <a:gd name="adj" fmla="val 3030"/>
            </a:avLst>
          </a:prstGeom>
          <a:solidFill>
            <a:srgbClr val="EEF2F7"/>
          </a:solidFill>
          <a:ln w="12700">
            <a:solidFill>
              <a:srgbClr val="EEF2F7"/>
            </a:solidFill>
            <a:prstDash val="solid"/>
          </a:ln>
        </p:spPr>
      </p:sp>
      <p:sp>
        <p:nvSpPr>
          <p:cNvPr id="6" name="Text 4"/>
          <p:cNvSpPr txBox="1"/>
          <p:nvPr/>
        </p:nvSpPr>
        <p:spPr>
          <a:xfrm>
            <a:off x="731520" y="1691640"/>
            <a:ext cx="32004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n8n workflow 03</a:t>
            </a:r>
            <a:endParaRPr lang="en-US" sz="1600" dirty="0"/>
          </a:p>
        </p:txBody>
      </p:sp>
      <p:sp>
        <p:nvSpPr>
          <p:cNvPr id="7" name="Text 5"/>
          <p:cNvSpPr txBox="1"/>
          <p:nvPr/>
        </p:nvSpPr>
        <p:spPr>
          <a:xfrm>
            <a:off x="731520" y="2103120"/>
            <a:ext cx="3200400" cy="2331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25 nodes, retries, continue on error</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120 reviews in 81 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About $0.30 per 120 reviews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No hard failures on n8n Cloud</a:t>
            </a:r>
            <a:endParaRPr lang="en-US" sz="1300" dirty="0"/>
          </a:p>
        </p:txBody>
      </p:sp>
      <p:sp>
        <p:nvSpPr>
          <p:cNvPr id="8" name="Shape 6"/>
          <p:cNvSpPr/>
          <p:nvPr/>
        </p:nvSpPr>
        <p:spPr>
          <a:xfrm>
            <a:off x="4297680" y="1554480"/>
            <a:ext cx="3566160" cy="3017520"/>
          </a:xfrm>
          <a:prstGeom prst="roundRect">
            <a:avLst>
              <a:gd name="adj" fmla="val 3030"/>
            </a:avLst>
          </a:prstGeom>
          <a:solidFill>
            <a:srgbClr val="EEF2F7"/>
          </a:solidFill>
          <a:ln w="12700">
            <a:solidFill>
              <a:srgbClr val="EEF2F7"/>
            </a:solidFill>
            <a:prstDash val="solid"/>
          </a:ln>
        </p:spPr>
      </p:sp>
      <p:sp>
        <p:nvSpPr>
          <p:cNvPr id="9" name="Text 7"/>
          <p:cNvSpPr txBox="1"/>
          <p:nvPr/>
        </p:nvSpPr>
        <p:spPr>
          <a:xfrm>
            <a:off x="4480560" y="1691640"/>
            <a:ext cx="32004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FastAPI service</a:t>
            </a:r>
            <a:endParaRPr lang="en-US" sz="1600" dirty="0"/>
          </a:p>
        </p:txBody>
      </p:sp>
      <p:sp>
        <p:nvSpPr>
          <p:cNvPr id="10" name="Text 8"/>
          <p:cNvSpPr txBox="1"/>
          <p:nvPr/>
        </p:nvSpPr>
        <p:spPr>
          <a:xfrm>
            <a:off x="4480560" y="2103120"/>
            <a:ext cx="3200400" cy="2331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/analyze, /draft-response, /trends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API key and hard spend cap</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Every Claude call logged</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16 automated tests</a:t>
            </a:r>
            <a:endParaRPr lang="en-US" sz="1300" dirty="0"/>
          </a:p>
        </p:txBody>
      </p:sp>
      <p:sp>
        <p:nvSpPr>
          <p:cNvPr id="11" name="Shape 9"/>
          <p:cNvSpPr/>
          <p:nvPr/>
        </p:nvSpPr>
        <p:spPr>
          <a:xfrm>
            <a:off x="8046720" y="1554480"/>
            <a:ext cx="3566160" cy="3017520"/>
          </a:xfrm>
          <a:prstGeom prst="roundRect">
            <a:avLst>
              <a:gd name="adj" fmla="val 3030"/>
            </a:avLst>
          </a:prstGeom>
          <a:solidFill>
            <a:srgbClr val="EEF2F7"/>
          </a:solidFill>
          <a:ln w="12700">
            <a:solidFill>
              <a:srgbClr val="EEF2F7"/>
            </a:solidFill>
            <a:prstDash val="solid"/>
          </a:ln>
        </p:spPr>
      </p:sp>
      <p:sp>
        <p:nvSpPr>
          <p:cNvPr id="12" name="Text 10"/>
          <p:cNvSpPr txBox="1"/>
          <p:nvPr/>
        </p:nvSpPr>
        <p:spPr>
          <a:xfrm>
            <a:off x="8229600" y="1691640"/>
            <a:ext cx="32004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Dashboard and Slack</a:t>
            </a:r>
            <a:endParaRPr lang="en-US" sz="1600" dirty="0"/>
          </a:p>
        </p:txBody>
      </p:sp>
      <p:sp>
        <p:nvSpPr>
          <p:cNvPr id="13" name="Text 11"/>
          <p:cNvSpPr txBox="1"/>
          <p:nvPr/>
        </p:nvSpPr>
        <p:spPr>
          <a:xfrm>
            <a:off x="8229600" y="2103120"/>
            <a:ext cx="3200400" cy="2331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Google Sheets: sentiment, topics, issues, spikes</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Workflow 04 posts spikes to Slack</a:t>
            </a:r>
            <a:endParaRPr lang="en-US" sz="1300" dirty="0"/>
          </a:p>
          <a:p>
            <a:pPr marL="342900" indent="-342900">
              <a:spcAft>
                <a:spcPts val="800"/>
              </a:spcAft>
              <a:buSzPct val="100000"/>
              <a:buChar char="•"/>
            </a:pPr>
            <a:r>
              <a:rPr lang="en-US" sz="1500" dirty="0">
                <a:solidFill>
                  <a:srgbClr val="1B2733"/>
                </a:solidFill>
                <a:latin typeface="Calibri" pitchFamily="34" charset="0"/>
                <a:ea typeface="Calibri" pitchFamily="34" charset="-122"/>
                <a:cs typeface="Calibri" pitchFamily="34" charset="-120"/>
              </a:rPr>
              <a:t>Costs nothing to run</a:t>
            </a:r>
            <a:endParaRPr lang="en-US" sz="1300" dirty="0"/>
          </a:p>
        </p:txBody>
      </p:sp>
      <p:sp>
        <p:nvSpPr>
          <p:cNvPr id="14" name="Text 12"/>
          <p:cNvSpPr txBox="1"/>
          <p:nvPr/>
        </p:nvSpPr>
        <p:spPr>
          <a:xfrm>
            <a:off x="548640" y="4937760"/>
            <a:ext cx="356616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~$2.50</a:t>
            </a:r>
            <a:endParaRPr lang="en-US" sz="4400" dirty="0"/>
          </a:p>
        </p:txBody>
      </p:sp>
      <p:sp>
        <p:nvSpPr>
          <p:cNvPr id="15" name="Text 13"/>
          <p:cNvSpPr txBox="1"/>
          <p:nvPr/>
        </p:nvSpPr>
        <p:spPr>
          <a:xfrm>
            <a:off x="548640" y="576072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per 1,000 reviews (replies $1.40, translation $0.50, analysis $0.60)</a:t>
            </a:r>
            <a:endParaRPr lang="en-US" sz="1300" dirty="0"/>
          </a:p>
        </p:txBody>
      </p:sp>
      <p:sp>
        <p:nvSpPr>
          <p:cNvPr id="16" name="Text 14"/>
          <p:cNvSpPr txBox="1"/>
          <p:nvPr/>
        </p:nvSpPr>
        <p:spPr>
          <a:xfrm>
            <a:off x="4297680" y="4937760"/>
            <a:ext cx="356616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~11 min</a:t>
            </a:r>
            <a:endParaRPr lang="en-US" sz="4400" dirty="0"/>
          </a:p>
        </p:txBody>
      </p:sp>
      <p:sp>
        <p:nvSpPr>
          <p:cNvPr id="17" name="Text 15"/>
          <p:cNvSpPr txBox="1"/>
          <p:nvPr/>
        </p:nvSpPr>
        <p:spPr>
          <a:xfrm>
            <a:off x="4297680" y="576072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to process 1,000 reviews (0.68 s per review)</a:t>
            </a:r>
            <a:endParaRPr lang="en-US" sz="1300" dirty="0"/>
          </a:p>
        </p:txBody>
      </p:sp>
      <p:sp>
        <p:nvSpPr>
          <p:cNvPr id="18" name="Text 16"/>
          <p:cNvSpPr txBox="1"/>
          <p:nvPr/>
        </p:nvSpPr>
        <p:spPr>
          <a:xfrm>
            <a:off x="8046720" y="4937760"/>
            <a:ext cx="356616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$4.29</a:t>
            </a:r>
            <a:endParaRPr lang="en-US" sz="4400" dirty="0"/>
          </a:p>
        </p:txBody>
      </p:sp>
      <p:sp>
        <p:nvSpPr>
          <p:cNvPr id="19" name="Text 17"/>
          <p:cNvSpPr txBox="1"/>
          <p:nvPr/>
        </p:nvSpPr>
        <p:spPr>
          <a:xfrm>
            <a:off x="8046720" y="576072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total Claude spend for the whole project (budget $5)</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DASHBOARD</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Dashboard: what the team sees in Google Sheets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dash_kpi_issues.png">    </p:cNvPr>
          <p:cNvPicPr>
            <a:picLocks noChangeAspect="1"/>
          </p:cNvPicPr>
          <p:nvPr/>
        </p:nvPicPr>
        <p:blipFill>
          <a:blip r:embed="rId1"/>
          <a:stretch>
            <a:fillRect/>
          </a:stretch>
        </p:blipFill>
        <p:spPr>
          <a:xfrm>
            <a:off x="548640" y="1508760"/>
            <a:ext cx="6035040" cy="2597359"/>
          </a:xfrm>
          <a:prstGeom prst="rect">
            <a:avLst/>
          </a:prstGeom>
        </p:spPr>
      </p:pic>
      <p:pic>
        <p:nvPicPr>
          <p:cNvPr id="6" name="Image 1" descr="C:\Users\HP\AppData\Local\Temp\claude\E--Capstone-Project\e1198f5c-9597-4f9e-97a5-53c83e2ccc77\scratchpad\report\dash_spike_chart.png">    </p:cNvPr>
          <p:cNvPicPr>
            <a:picLocks noChangeAspect="1"/>
          </p:cNvPicPr>
          <p:nvPr/>
        </p:nvPicPr>
        <p:blipFill>
          <a:blip r:embed="rId2"/>
          <a:stretch>
            <a:fillRect/>
          </a:stretch>
        </p:blipFill>
        <p:spPr>
          <a:xfrm>
            <a:off x="6858000" y="1508760"/>
            <a:ext cx="4434840" cy="2601578"/>
          </a:xfrm>
          <a:prstGeom prst="rect">
            <a:avLst/>
          </a:prstGeom>
        </p:spPr>
      </p:pic>
      <p:pic>
        <p:nvPicPr>
          <p:cNvPr id="7" name="Image 2" descr="C:\Users\HP\AppData\Local\Temp\claude\E--Capstone-Project\e1198f5c-9597-4f9e-97a5-53c83e2ccc77\scratchpad\report\dash_sentiment.png">    </p:cNvPr>
          <p:cNvPicPr>
            <a:picLocks noChangeAspect="1"/>
          </p:cNvPicPr>
          <p:nvPr/>
        </p:nvPicPr>
        <p:blipFill>
          <a:blip r:embed="rId3"/>
          <a:stretch>
            <a:fillRect/>
          </a:stretch>
        </p:blipFill>
        <p:spPr>
          <a:xfrm>
            <a:off x="548640" y="4343400"/>
            <a:ext cx="3200400" cy="1872199"/>
          </a:xfrm>
          <a:prstGeom prst="rect">
            <a:avLst/>
          </a:prstGeom>
        </p:spPr>
      </p:pic>
      <p:sp>
        <p:nvSpPr>
          <p:cNvPr id="8" name="Shape 3"/>
          <p:cNvSpPr/>
          <p:nvPr/>
        </p:nvSpPr>
        <p:spPr>
          <a:xfrm>
            <a:off x="4023360" y="4343400"/>
            <a:ext cx="7315200" cy="1920240"/>
          </a:xfrm>
          <a:prstGeom prst="roundRect">
            <a:avLst>
              <a:gd name="adj" fmla="val 4762"/>
            </a:avLst>
          </a:prstGeom>
          <a:solidFill>
            <a:srgbClr val="EEF2F7"/>
          </a:solidFill>
          <a:ln w="12700">
            <a:solidFill>
              <a:srgbClr val="EEF2F7"/>
            </a:solidFill>
            <a:prstDash val="solid"/>
          </a:ln>
        </p:spPr>
      </p:sp>
      <p:sp>
        <p:nvSpPr>
          <p:cNvPr id="9" name="Text 4"/>
          <p:cNvSpPr txBox="1"/>
          <p:nvPr/>
        </p:nvSpPr>
        <p:spPr>
          <a:xfrm>
            <a:off x="4206240" y="4480560"/>
            <a:ext cx="694944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Reading the dashboard</a:t>
            </a:r>
            <a:endParaRPr lang="en-US" sz="1600" dirty="0"/>
          </a:p>
        </p:txBody>
      </p:sp>
      <p:sp>
        <p:nvSpPr>
          <p:cNvPr id="10" name="Text 5"/>
          <p:cNvSpPr txBox="1"/>
          <p:nvPr/>
        </p:nvSpPr>
        <p:spPr>
          <a:xfrm>
            <a:off x="4206240" y="4892040"/>
            <a:ext cx="6949440" cy="1234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Top left: 1,560 reviews, 49.0% negative, 765 drafts awaiting a human</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Top right: weekly negative reviews per issue; the peaks are the 4 Slack alerts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Bottom left: sentiment mix per week; dates are simulated</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ALERT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Slack alert: the team hears about a spike straight away</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pic>
        <p:nvPicPr>
          <p:cNvPr id="5" name="Image 0" descr="C:\Users\HP\AppData\Local\Temp\claude\E--Capstone-Project\e1198f5c-9597-4f9e-97a5-53c83e2ccc77\scratchpad\report\slack_alert.png">    </p:cNvPr>
          <p:cNvPicPr>
            <a:picLocks noChangeAspect="1"/>
          </p:cNvPicPr>
          <p:nvPr/>
        </p:nvPicPr>
        <p:blipFill>
          <a:blip r:embed="rId1"/>
          <a:stretch>
            <a:fillRect/>
          </a:stretch>
        </p:blipFill>
        <p:spPr>
          <a:xfrm>
            <a:off x="548640" y="1600200"/>
            <a:ext cx="7315200" cy="1132114"/>
          </a:xfrm>
          <a:prstGeom prst="rect">
            <a:avLst/>
          </a:prstGeom>
        </p:spPr>
      </p:pic>
      <p:sp>
        <p:nvSpPr>
          <p:cNvPr id="6" name="Shape 3"/>
          <p:cNvSpPr/>
          <p:nvPr/>
        </p:nvSpPr>
        <p:spPr>
          <a:xfrm>
            <a:off x="8229600" y="1600200"/>
            <a:ext cx="3383280" cy="4251960"/>
          </a:xfrm>
          <a:prstGeom prst="roundRect">
            <a:avLst>
              <a:gd name="adj" fmla="val 2703"/>
            </a:avLst>
          </a:prstGeom>
          <a:solidFill>
            <a:srgbClr val="EEF2F7"/>
          </a:solidFill>
          <a:ln w="12700">
            <a:solidFill>
              <a:srgbClr val="EEF2F7"/>
            </a:solidFill>
            <a:prstDash val="solid"/>
          </a:ln>
        </p:spPr>
      </p:sp>
      <p:sp>
        <p:nvSpPr>
          <p:cNvPr id="7" name="Text 4"/>
          <p:cNvSpPr txBox="1"/>
          <p:nvPr/>
        </p:nvSpPr>
        <p:spPr>
          <a:xfrm>
            <a:off x="8412480" y="1737360"/>
            <a:ext cx="301752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How it works</a:t>
            </a:r>
            <a:endParaRPr lang="en-US" sz="1600" dirty="0"/>
          </a:p>
        </p:txBody>
      </p:sp>
      <p:sp>
        <p:nvSpPr>
          <p:cNvPr id="8" name="Text 5"/>
          <p:cNvSpPr txBox="1"/>
          <p:nvPr/>
        </p:nvSpPr>
        <p:spPr>
          <a:xfrm>
            <a:off x="8412480" y="2148840"/>
            <a:ext cx="30175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Workflow 04 reads the dashboard sheet</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Flags weeks with z &gt;= 3.5 and at least 8 reviews</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Posts one message with counts, baseline and a link to the dashboard</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Success is confirmed only when Slack answers 'ok'</a:t>
            </a:r>
            <a:endParaRPr lang="en-US" sz="1300" dirty="0"/>
          </a:p>
        </p:txBody>
      </p:sp>
      <p:sp>
        <p:nvSpPr>
          <p:cNvPr id="9" name="Text 6"/>
          <p:cNvSpPr txBox="1"/>
          <p:nvPr/>
        </p:nvSpPr>
        <p:spPr>
          <a:xfrm>
            <a:off x="548640" y="3566160"/>
            <a:ext cx="228600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4</a:t>
            </a:r>
            <a:endParaRPr lang="en-US" sz="4400" dirty="0"/>
          </a:p>
        </p:txBody>
      </p:sp>
      <p:sp>
        <p:nvSpPr>
          <p:cNvPr id="10" name="Text 7"/>
          <p:cNvSpPr txBox="1"/>
          <p:nvPr/>
        </p:nvSpPr>
        <p:spPr>
          <a:xfrm>
            <a:off x="548640" y="4389120"/>
            <a:ext cx="22860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spikes flagged in the 12 simulated weeks</a:t>
            </a:r>
            <a:endParaRPr lang="en-US" sz="1300" dirty="0"/>
          </a:p>
        </p:txBody>
      </p:sp>
      <p:sp>
        <p:nvSpPr>
          <p:cNvPr id="11" name="Text 8"/>
          <p:cNvSpPr txBox="1"/>
          <p:nvPr/>
        </p:nvSpPr>
        <p:spPr>
          <a:xfrm>
            <a:off x="3108960" y="3566160"/>
            <a:ext cx="228600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z 12.56</a:t>
            </a:r>
            <a:endParaRPr lang="en-US" sz="4400" dirty="0"/>
          </a:p>
        </p:txBody>
      </p:sp>
      <p:sp>
        <p:nvSpPr>
          <p:cNvPr id="12" name="Text 9"/>
          <p:cNvSpPr txBox="1"/>
          <p:nvPr/>
        </p:nvSpPr>
        <p:spPr>
          <a:xfrm>
            <a:off x="3108960" y="4389120"/>
            <a:ext cx="22860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largest: delayed shipments, 27 reviews</a:t>
            </a:r>
            <a:endParaRPr lang="en-US" sz="1300" dirty="0"/>
          </a:p>
        </p:txBody>
      </p:sp>
      <p:sp>
        <p:nvSpPr>
          <p:cNvPr id="13" name="Text 10"/>
          <p:cNvSpPr txBox="1"/>
          <p:nvPr/>
        </p:nvSpPr>
        <p:spPr>
          <a:xfrm>
            <a:off x="5669280" y="3566160"/>
            <a:ext cx="219456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$0</a:t>
            </a:r>
            <a:endParaRPr lang="en-US" sz="4400" dirty="0"/>
          </a:p>
        </p:txBody>
      </p:sp>
      <p:sp>
        <p:nvSpPr>
          <p:cNvPr id="14" name="Text 11"/>
          <p:cNvSpPr txBox="1"/>
          <p:nvPr/>
        </p:nvSpPr>
        <p:spPr>
          <a:xfrm>
            <a:off x="5669280" y="4389120"/>
            <a:ext cx="21945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to run: no Claude calls</a:t>
            </a:r>
            <a:endParaRPr lang="en-US" sz="1300" dirty="0"/>
          </a:p>
        </p:txBody>
      </p:sp>
      <p:sp>
        <p:nvSpPr>
          <p:cNvPr id="15" name="Text 12"/>
          <p:cNvSpPr txBox="1"/>
          <p:nvPr/>
        </p:nvSpPr>
        <p:spPr>
          <a:xfrm>
            <a:off x="548640" y="5394960"/>
            <a:ext cx="7315200" cy="457200"/>
          </a:xfrm>
          <a:prstGeom prst="rect">
            <a:avLst/>
          </a:prstGeom>
          <a:noFill/>
          <a:ln/>
        </p:spPr>
        <p:txBody>
          <a:bodyPr wrap="square" lIns="0" tIns="0" rIns="0" bIns="0" rtlCol="0" anchor="ctr"/>
          <a:lstStyle/>
          <a:p>
            <a:pPr indent="0" marL="0">
              <a:buNone/>
            </a:pPr>
            <a:r>
              <a:rPr lang="en-US" sz="1400" i="1" dirty="0">
                <a:solidFill>
                  <a:srgbClr val="5A6470"/>
                </a:solidFill>
                <a:latin typeface="Calibri" pitchFamily="34" charset="0"/>
                <a:ea typeface="Calibri" pitchFamily="34" charset="-122"/>
                <a:cs typeface="Calibri" pitchFamily="34" charset="-120"/>
              </a:rPr>
              <a:t>The missing-parts alert was not planted, so it is a false alarm.</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DEMO APP AND DEPLOYMENT</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A live demo anyone can open, and where everything runs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5120640" cy="3246120"/>
          </a:xfrm>
          <a:prstGeom prst="roundRect">
            <a:avLst>
              <a:gd name="adj" fmla="val 2817"/>
            </a:avLst>
          </a:prstGeom>
          <a:solidFill>
            <a:srgbClr val="EEF2F7"/>
          </a:solidFill>
          <a:ln w="12700">
            <a:solidFill>
              <a:srgbClr val="EEF2F7"/>
            </a:solidFill>
            <a:prstDash val="solid"/>
          </a:ln>
        </p:spPr>
      </p:sp>
      <p:sp>
        <p:nvSpPr>
          <p:cNvPr id="6" name="Text 4"/>
          <p:cNvSpPr txBox="1"/>
          <p:nvPr/>
        </p:nvSpPr>
        <p:spPr>
          <a:xfrm>
            <a:off x="731520" y="1691640"/>
            <a:ext cx="475488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Gradio app on a Hugging Face Space</a:t>
            </a:r>
            <a:endParaRPr lang="en-US" sz="1600" dirty="0"/>
          </a:p>
        </p:txBody>
      </p:sp>
      <p:sp>
        <p:nvSpPr>
          <p:cNvPr id="7" name="Text 5"/>
          <p:cNvSpPr txBox="1"/>
          <p:nvPr/>
        </p:nvSpPr>
        <p:spPr>
          <a:xfrm>
            <a:off x="731520" y="2103120"/>
            <a:ext cx="4754880"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Saved examples: 13 real reviews, no model call</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Your own review: live Claude classification, issue and reply</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Spike detection on the dashboard data</a:t>
            </a:r>
            <a:endParaRPr lang="en-US" sz="1300" dirty="0"/>
          </a:p>
          <a:p>
            <a:pPr marL="342900" indent="-342900">
              <a:spcAft>
                <a:spcPts val="800"/>
              </a:spcAft>
              <a:buSzPct val="100000"/>
              <a:buChar char="•"/>
            </a:pPr>
            <a:r>
              <a:rPr lang="en-US" sz="1400" dirty="0">
                <a:solidFill>
                  <a:srgbClr val="1B2733"/>
                </a:solidFill>
                <a:latin typeface="Calibri" pitchFamily="34" charset="0"/>
                <a:ea typeface="Calibri" pitchFamily="34" charset="-122"/>
                <a:cs typeface="Calibri" pitchFamily="34" charset="-120"/>
              </a:rPr>
              <a:t>Spend cap, 10 calls per session, key kept as a Space secret</a:t>
            </a:r>
            <a:endParaRPr lang="en-US" sz="1300" dirty="0"/>
          </a:p>
        </p:txBody>
      </p:sp>
      <p:sp>
        <p:nvSpPr>
          <p:cNvPr id="8" name="Text 6"/>
          <p:cNvSpPr txBox="1"/>
          <p:nvPr/>
        </p:nvSpPr>
        <p:spPr>
          <a:xfrm>
            <a:off x="548640" y="4937760"/>
            <a:ext cx="51206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huggingface.co/spaces/SrinivasanHF/review-insights-demo</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0" y="1600200"/>
          <a:ext cx="5669280" cy="914400"/>
        </p:xfrm>
        <a:graphic>
          <a:graphicData uri="http://schemas.openxmlformats.org/drawingml/2006/table">
            <a:tbl>
              <a:tblPr/>
              <a:tblGrid>
                <a:gridCol w="2011680"/>
                <a:gridCol w="365760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Part</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Where it runs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n8n workflows 01-04</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n8n Cloud (trial to ~16 Oct)</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Demo app</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Hugging Face Space (free ZeroGPU tier)</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Dashboard</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Google Sheets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Alerts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Slack, #all-capstone-project</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API service</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Local, not public</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Code and docs</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300" dirty="0">
                          <a:solidFill>
                            <a:srgbClr val="1B2733"/>
                          </a:solidFill>
                          <a:latin typeface="Calibri" pitchFamily="34" charset="0"/>
                          <a:ea typeface="Calibri" pitchFamily="34" charset="-122"/>
                          <a:cs typeface="Calibri" pitchFamily="34" charset="-120"/>
                        </a:rPr>
                        <a:t>GitHub, no keys stored</a:t>
                      </a:r>
                      <a:endParaRPr lang="en-US" sz="13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10" name="Text 7"/>
          <p:cNvSpPr txBox="1"/>
          <p:nvPr/>
        </p:nvSpPr>
        <p:spPr>
          <a:xfrm>
            <a:off x="5943600" y="4663440"/>
            <a:ext cx="1828800" cy="822960"/>
          </a:xfrm>
          <a:prstGeom prst="rect">
            <a:avLst/>
          </a:prstGeom>
          <a:noFill/>
          <a:ln/>
        </p:spPr>
        <p:txBody>
          <a:bodyPr wrap="square" lIns="0" tIns="0" rIns="0" bIns="0" rtlCol="0" anchor="ctr"/>
          <a:lstStyle/>
          <a:p>
            <a:pPr indent="0" marL="0">
              <a:buNone/>
            </a:pPr>
            <a:r>
              <a:rPr lang="en-US" sz="3600" b="1" dirty="0">
                <a:solidFill>
                  <a:srgbClr val="2A9D8F"/>
                </a:solidFill>
                <a:latin typeface="Cambria" pitchFamily="34" charset="0"/>
                <a:ea typeface="Cambria" pitchFamily="34" charset="-122"/>
                <a:cs typeface="Cambria" pitchFamily="34" charset="-120"/>
              </a:rPr>
              <a:t>3</a:t>
            </a:r>
            <a:endParaRPr lang="en-US" sz="3600" dirty="0"/>
          </a:p>
        </p:txBody>
      </p:sp>
      <p:sp>
        <p:nvSpPr>
          <p:cNvPr id="11" name="Text 8"/>
          <p:cNvSpPr txBox="1"/>
          <p:nvPr/>
        </p:nvSpPr>
        <p:spPr>
          <a:xfrm>
            <a:off x="5943600" y="5486400"/>
            <a:ext cx="18288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tabs in the demo app</a:t>
            </a:r>
            <a:endParaRPr lang="en-US" sz="1300" dirty="0"/>
          </a:p>
        </p:txBody>
      </p:sp>
      <p:sp>
        <p:nvSpPr>
          <p:cNvPr id="12" name="Text 9"/>
          <p:cNvSpPr txBox="1"/>
          <p:nvPr/>
        </p:nvSpPr>
        <p:spPr>
          <a:xfrm>
            <a:off x="7955280" y="4663440"/>
            <a:ext cx="1828800" cy="822960"/>
          </a:xfrm>
          <a:prstGeom prst="rect">
            <a:avLst/>
          </a:prstGeom>
          <a:noFill/>
          <a:ln/>
        </p:spPr>
        <p:txBody>
          <a:bodyPr wrap="square" lIns="0" tIns="0" rIns="0" bIns="0" rtlCol="0" anchor="ctr"/>
          <a:lstStyle/>
          <a:p>
            <a:pPr indent="0" marL="0">
              <a:buNone/>
            </a:pPr>
            <a:r>
              <a:rPr lang="en-US" sz="3600" b="1" dirty="0">
                <a:solidFill>
                  <a:srgbClr val="E9A23B"/>
                </a:solidFill>
                <a:latin typeface="Cambria" pitchFamily="34" charset="0"/>
                <a:ea typeface="Cambria" pitchFamily="34" charset="-122"/>
                <a:cs typeface="Cambria" pitchFamily="34" charset="-120"/>
              </a:rPr>
              <a:t>$0.50</a:t>
            </a:r>
            <a:endParaRPr lang="en-US" sz="3600" dirty="0"/>
          </a:p>
        </p:txBody>
      </p:sp>
      <p:sp>
        <p:nvSpPr>
          <p:cNvPr id="13" name="Text 10"/>
          <p:cNvSpPr txBox="1"/>
          <p:nvPr/>
        </p:nvSpPr>
        <p:spPr>
          <a:xfrm>
            <a:off x="7955280" y="5486400"/>
            <a:ext cx="182880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spend cap on the live tab</a:t>
            </a:r>
            <a:endParaRPr lang="en-US" sz="1300" dirty="0"/>
          </a:p>
        </p:txBody>
      </p:sp>
      <p:sp>
        <p:nvSpPr>
          <p:cNvPr id="14" name="Text 11"/>
          <p:cNvSpPr txBox="1"/>
          <p:nvPr/>
        </p:nvSpPr>
        <p:spPr>
          <a:xfrm>
            <a:off x="9966960" y="4663440"/>
            <a:ext cx="1645920" cy="822960"/>
          </a:xfrm>
          <a:prstGeom prst="rect">
            <a:avLst/>
          </a:prstGeom>
          <a:noFill/>
          <a:ln/>
        </p:spPr>
        <p:txBody>
          <a:bodyPr wrap="square" lIns="0" tIns="0" rIns="0" bIns="0" rtlCol="0" anchor="ctr"/>
          <a:lstStyle/>
          <a:p>
            <a:pPr indent="0" marL="0">
              <a:buNone/>
            </a:pPr>
            <a:r>
              <a:rPr lang="en-US" sz="3600" b="1" dirty="0">
                <a:solidFill>
                  <a:srgbClr val="1F3A5F"/>
                </a:solidFill>
                <a:latin typeface="Cambria" pitchFamily="34" charset="0"/>
                <a:ea typeface="Cambria" pitchFamily="34" charset="-122"/>
                <a:cs typeface="Cambria" pitchFamily="34" charset="-120"/>
              </a:rPr>
              <a:t>83 s</a:t>
            </a:r>
            <a:endParaRPr lang="en-US" sz="3600" dirty="0"/>
          </a:p>
        </p:txBody>
      </p:sp>
      <p:sp>
        <p:nvSpPr>
          <p:cNvPr id="15" name="Text 12"/>
          <p:cNvSpPr txBox="1"/>
          <p:nvPr/>
        </p:nvSpPr>
        <p:spPr>
          <a:xfrm>
            <a:off x="9966960" y="5486400"/>
            <a:ext cx="16459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workflow 03, 120 reviews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METHODS TRIED AND CHALLENGES</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What went wrong along the way, and how we fixed it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4206240"/>
                <a:gridCol w="41148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Challenge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happened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How we overcame it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Sorted dataset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First N rows were all 1-star reviews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Stratified sample per star and language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No dates in the data</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Cannot test trend detection on real weeks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Simulated weeks with planted spikes, said openly</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Groq free tier</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Latency from 1.5 to 58 s; Llama models gone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Compared on 40 reviews, chose Claude only</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Neutral class stuck near 37% recall</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Prompt v3 and a stacking model gave no real gain</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Kept the simple model, explained the star-proxy limit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Clusters too diffuse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HDBSCAN returned mostly noise</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Cluster Claude's English issue phrase with k-means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Judge mistakes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Flagged the supplied name as invented; thinking block broke parsing</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Told it the name is system-provided; parse the first text block</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Slack said 'sent' but nothing arrived</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Placeholder URL returned an HTML page with HTTP 200</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Require the exact reply 'ok'; tested three cases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n8n Cloud limits</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No local files or embedding model; trial limited (current account to ~16 Oct)</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500" dirty="0">
                          <a:solidFill>
                            <a:srgbClr val="1B2733"/>
                          </a:solidFill>
                          <a:latin typeface="Calibri" pitchFamily="34" charset="0"/>
                          <a:ea typeface="Calibri" pitchFamily="34" charset="-122"/>
                          <a:cs typeface="Calibri" pitchFamily="34" charset="-120"/>
                        </a:rPr>
                        <a:t>Claude classifies into 13 categories; workflow JSON kept in the repo</a:t>
                      </a:r>
                      <a:endParaRPr lang="en-US" sz="15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OUTCOME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Results against the targets</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200400"/>
                <a:gridCol w="5577840"/>
                <a:gridCol w="2286000"/>
              </a:tblGrid>
              <a:tr h="64008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Target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Measured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Status</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1F3A5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1,000+ reviews per day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~11 minutes per 1,000 reviews (measured on 120)</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Met on speed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85%+ sentiment accuracy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88.4% positive vs negative; 78.1% three-way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Two-way met, three-way not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Reply in 3 h instead of 24 h</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Draft in about a minute; human approval time not measured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Automation met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Star error at most 0.15</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0.47; 95.6% within one star</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Not met, unrealistic</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80% of drafts accepted</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79.2% by the LLM judge; no human test</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Close, proxy only</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FFFFFF"/>
                    </a:solidFill>
                  </a:tcPr>
                </a:tc>
              </a:tr>
              <a:tr h="640080">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Find sudden spikes</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Precision 88.6%, recall 94.3% on simulated weeks; Slack alert works</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c>
                  <a:txBody>
                    <a:bodyPr/>
                    <a:lstStyle/>
                    <a:p>
                      <a:pPr indent="0" marL="0">
                        <a:buNone/>
                      </a:pPr>
                      <a:r>
                        <a:rPr lang="en-US" sz="1700" dirty="0">
                          <a:solidFill>
                            <a:srgbClr val="1B2733"/>
                          </a:solidFill>
                          <a:latin typeface="Calibri" pitchFamily="34" charset="0"/>
                          <a:ea typeface="Calibri" pitchFamily="34" charset="-122"/>
                          <a:cs typeface="Calibri" pitchFamily="34" charset="-120"/>
                        </a:rPr>
                        <a:t>Met on simulated data</a:t>
                      </a:r>
                      <a:endParaRPr lang="en-US" sz="1700" dirty="0">
                        <a:latin typeface="Calibri" charset="0"/>
                        <a:ea typeface="Calibri" charset="0"/>
                        <a:cs typeface="Calibri" charset="0"/>
                      </a:endParaRPr>
                    </a:p>
                  </a:txBody>
                  <a:tcPr marL="73152" marR="73152" marT="45720" marB="45720" anchor="ctr">
                    <a:lnL w="6350" cap="flat" cmpd="sng" algn="ctr">
                      <a:solidFill>
                        <a:srgbClr val="C9D1DB"/>
                      </a:solidFill>
                      <a:prstDash val="solid"/>
                      <a:round/>
                      <a:headEnd type="none" w="med" len="med"/>
                      <a:tailEnd type="none" w="med" len="med"/>
                    </a:lnL>
                    <a:lnR w="6350" cap="flat" cmpd="sng" algn="ctr">
                      <a:solidFill>
                        <a:srgbClr val="C9D1DB"/>
                      </a:solidFill>
                      <a:prstDash val="solid"/>
                      <a:round/>
                      <a:headEnd type="none" w="med" len="med"/>
                      <a:tailEnd type="none" w="med" len="med"/>
                    </a:lnR>
                    <a:lnT w="6350" cap="flat" cmpd="sng" algn="ctr">
                      <a:solidFill>
                        <a:srgbClr val="C9D1DB"/>
                      </a:solidFill>
                      <a:prstDash val="solid"/>
                      <a:round/>
                      <a:headEnd type="none" w="med" len="med"/>
                      <a:tailEnd type="none" w="med" len="med"/>
                    </a:lnT>
                    <a:lnB w="6350" cap="flat" cmpd="sng" algn="ctr">
                      <a:solidFill>
                        <a:srgbClr val="C9D1DB"/>
                      </a:solidFill>
                      <a:prstDash val="solid"/>
                      <a:round/>
                      <a:headEnd type="none" w="med" len="med"/>
                      <a:tailEnd type="none" w="med" len="med"/>
                    </a:lnB>
                    <a:solidFill>
                      <a:srgbClr val="EEF2F7"/>
                    </a:solidFill>
                  </a:tcPr>
                </a:tc>
              </a:tr>
            </a:tbl>
          </a:graphicData>
        </a:graphic>
      </p:graphicFrame>
      <p:sp>
        <p:nvSpPr>
          <p:cNvPr id="6" name="Text 3"/>
          <p:cNvSpPr txBox="1"/>
          <p:nvPr/>
        </p:nvSpPr>
        <p:spPr>
          <a:xfrm>
            <a:off x="548640" y="5852160"/>
            <a:ext cx="11064240" cy="457200"/>
          </a:xfrm>
          <a:prstGeom prst="rect">
            <a:avLst/>
          </a:prstGeom>
          <a:noFill/>
          <a:ln/>
        </p:spPr>
        <p:txBody>
          <a:bodyPr wrap="square" lIns="0" tIns="0" rIns="0" bIns="0" rtlCol="0" anchor="ctr"/>
          <a:lstStyle/>
          <a:p>
            <a:pPr indent="0" marL="0">
              <a:buNone/>
            </a:pPr>
            <a:r>
              <a:rPr lang="en-US" sz="1500" i="1" dirty="0">
                <a:solidFill>
                  <a:srgbClr val="5A6470"/>
                </a:solidFill>
                <a:latin typeface="Calibri" pitchFamily="34" charset="0"/>
                <a:ea typeface="Calibri" pitchFamily="34" charset="-122"/>
                <a:cs typeface="Calibri" pitchFamily="34" charset="-120"/>
              </a:rPr>
              <a:t>We report the misses instead of tuning until the numbers looked good.</a:t>
            </a:r>
            <a:endParaRPr lang="en-US" sz="15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LIVE DEMO</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Demo plan: five tasks, from easy to hardest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11064240" cy="804672"/>
          </a:xfrm>
          <a:prstGeom prst="roundRect">
            <a:avLst>
              <a:gd name="adj" fmla="val 11364"/>
            </a:avLst>
          </a:prstGeom>
          <a:solidFill>
            <a:srgbClr val="EEF2F7"/>
          </a:solidFill>
          <a:ln w="12700">
            <a:solidFill>
              <a:srgbClr val="EEF2F7"/>
            </a:solidFill>
            <a:prstDash val="solid"/>
          </a:ln>
        </p:spPr>
      </p:sp>
      <p:sp>
        <p:nvSpPr>
          <p:cNvPr id="6" name="Shape 4"/>
          <p:cNvSpPr/>
          <p:nvPr/>
        </p:nvSpPr>
        <p:spPr>
          <a:xfrm>
            <a:off x="731520" y="1682496"/>
            <a:ext cx="548640" cy="548640"/>
          </a:xfrm>
          <a:prstGeom prst="ellipse">
            <a:avLst/>
          </a:prstGeom>
          <a:solidFill>
            <a:srgbClr val="2A9D8F"/>
          </a:solidFill>
          <a:ln w="12700">
            <a:solidFill>
              <a:srgbClr val="2A9D8F"/>
            </a:solidFill>
            <a:prstDash val="solid"/>
          </a:ln>
        </p:spPr>
      </p:sp>
      <p:sp>
        <p:nvSpPr>
          <p:cNvPr id="7" name="Text 5"/>
          <p:cNvSpPr txBox="1"/>
          <p:nvPr/>
        </p:nvSpPr>
        <p:spPr>
          <a:xfrm>
            <a:off x="731520" y="168249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508760" y="1554480"/>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Easy</a:t>
            </a:r>
            <a:endParaRPr lang="en-US" sz="1500" dirty="0"/>
          </a:p>
        </p:txBody>
      </p:sp>
      <p:sp>
        <p:nvSpPr>
          <p:cNvPr id="9" name="Text 7"/>
          <p:cNvSpPr txBox="1"/>
          <p:nvPr/>
        </p:nvSpPr>
        <p:spPr>
          <a:xfrm>
            <a:off x="2834640" y="1554480"/>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Classify one review: “arrived late and the box was crushed”</a:t>
            </a:r>
            <a:endParaRPr lang="en-US" sz="1400" dirty="0"/>
          </a:p>
        </p:txBody>
      </p:sp>
      <p:sp>
        <p:nvSpPr>
          <p:cNvPr id="10" name="Text 8"/>
          <p:cNvSpPr txBox="1"/>
          <p:nvPr/>
        </p:nvSpPr>
        <p:spPr>
          <a:xfrm>
            <a:off x="8686800" y="1554480"/>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Late, generic handling</a:t>
            </a:r>
            <a:endParaRPr lang="en-US" sz="1300" dirty="0"/>
          </a:p>
        </p:txBody>
      </p:sp>
      <p:sp>
        <p:nvSpPr>
          <p:cNvPr id="11" name="Shape 9"/>
          <p:cNvSpPr/>
          <p:nvPr/>
        </p:nvSpPr>
        <p:spPr>
          <a:xfrm>
            <a:off x="548640" y="2487168"/>
            <a:ext cx="11064240" cy="804672"/>
          </a:xfrm>
          <a:prstGeom prst="roundRect">
            <a:avLst>
              <a:gd name="adj" fmla="val 11364"/>
            </a:avLst>
          </a:prstGeom>
          <a:solidFill>
            <a:srgbClr val="EEF2F7"/>
          </a:solidFill>
          <a:ln w="12700">
            <a:solidFill>
              <a:srgbClr val="EEF2F7"/>
            </a:solidFill>
            <a:prstDash val="solid"/>
          </a:ln>
        </p:spPr>
      </p:sp>
      <p:sp>
        <p:nvSpPr>
          <p:cNvPr id="12" name="Shape 10"/>
          <p:cNvSpPr/>
          <p:nvPr/>
        </p:nvSpPr>
        <p:spPr>
          <a:xfrm>
            <a:off x="731520" y="2615184"/>
            <a:ext cx="548640" cy="548640"/>
          </a:xfrm>
          <a:prstGeom prst="ellipse">
            <a:avLst/>
          </a:prstGeom>
          <a:solidFill>
            <a:srgbClr val="2A9D8F"/>
          </a:solidFill>
          <a:ln w="12700">
            <a:solidFill>
              <a:srgbClr val="2A9D8F"/>
            </a:solidFill>
            <a:prstDash val="solid"/>
          </a:ln>
        </p:spPr>
      </p:sp>
      <p:sp>
        <p:nvSpPr>
          <p:cNvPr id="13" name="Text 11"/>
          <p:cNvSpPr txBox="1"/>
          <p:nvPr/>
        </p:nvSpPr>
        <p:spPr>
          <a:xfrm>
            <a:off x="731520" y="261518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2"/>
          <p:cNvSpPr txBox="1"/>
          <p:nvPr/>
        </p:nvSpPr>
        <p:spPr>
          <a:xfrm>
            <a:off x="1508760" y="2487168"/>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Medium</a:t>
            </a:r>
            <a:endParaRPr lang="en-US" sz="1500" dirty="0"/>
          </a:p>
        </p:txBody>
      </p:sp>
      <p:sp>
        <p:nvSpPr>
          <p:cNvPr id="15" name="Text 13"/>
          <p:cNvSpPr txBox="1"/>
          <p:nvPr/>
        </p:nvSpPr>
        <p:spPr>
          <a:xfrm>
            <a:off x="2834640" y="2487168"/>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Japanese neutral review: translate, classify, draft a Japanese reply</a:t>
            </a:r>
            <a:endParaRPr lang="en-US" sz="1400" dirty="0"/>
          </a:p>
        </p:txBody>
      </p:sp>
      <p:sp>
        <p:nvSpPr>
          <p:cNvPr id="16" name="Text 14"/>
          <p:cNvSpPr txBox="1"/>
          <p:nvPr/>
        </p:nvSpPr>
        <p:spPr>
          <a:xfrm>
            <a:off x="8686800" y="2487168"/>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Language barrier</a:t>
            </a:r>
            <a:endParaRPr lang="en-US" sz="1300" dirty="0"/>
          </a:p>
        </p:txBody>
      </p:sp>
      <p:sp>
        <p:nvSpPr>
          <p:cNvPr id="17" name="Shape 15"/>
          <p:cNvSpPr/>
          <p:nvPr/>
        </p:nvSpPr>
        <p:spPr>
          <a:xfrm>
            <a:off x="548640" y="3419856"/>
            <a:ext cx="11064240" cy="804672"/>
          </a:xfrm>
          <a:prstGeom prst="roundRect">
            <a:avLst>
              <a:gd name="adj" fmla="val 11364"/>
            </a:avLst>
          </a:prstGeom>
          <a:solidFill>
            <a:srgbClr val="EEF2F7"/>
          </a:solidFill>
          <a:ln w="12700">
            <a:solidFill>
              <a:srgbClr val="EEF2F7"/>
            </a:solidFill>
            <a:prstDash val="solid"/>
          </a:ln>
        </p:spPr>
      </p:sp>
      <p:sp>
        <p:nvSpPr>
          <p:cNvPr id="18" name="Shape 16"/>
          <p:cNvSpPr/>
          <p:nvPr/>
        </p:nvSpPr>
        <p:spPr>
          <a:xfrm>
            <a:off x="731520" y="3547872"/>
            <a:ext cx="548640" cy="548640"/>
          </a:xfrm>
          <a:prstGeom prst="ellipse">
            <a:avLst/>
          </a:prstGeom>
          <a:solidFill>
            <a:srgbClr val="E9A23B"/>
          </a:solidFill>
          <a:ln w="12700">
            <a:solidFill>
              <a:srgbClr val="E9A23B"/>
            </a:solidFill>
            <a:prstDash val="solid"/>
          </a:ln>
        </p:spPr>
      </p:sp>
      <p:sp>
        <p:nvSpPr>
          <p:cNvPr id="19" name="Text 17"/>
          <p:cNvSpPr txBox="1"/>
          <p:nvPr/>
        </p:nvSpPr>
        <p:spPr>
          <a:xfrm>
            <a:off x="731520" y="354787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0" name="Text 18"/>
          <p:cNvSpPr txBox="1"/>
          <p:nvPr/>
        </p:nvSpPr>
        <p:spPr>
          <a:xfrm>
            <a:off x="1508760" y="3419856"/>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Hard</a:t>
            </a:r>
            <a:endParaRPr lang="en-US" sz="1500" dirty="0"/>
          </a:p>
        </p:txBody>
      </p:sp>
      <p:sp>
        <p:nvSpPr>
          <p:cNvPr id="21" name="Text 19"/>
          <p:cNvSpPr txBox="1"/>
          <p:nvPr/>
        </p:nvSpPr>
        <p:spPr>
          <a:xfrm>
            <a:off x="2834640" y="3419856"/>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Run n8n workflow 03 on a six-language batch</a:t>
            </a:r>
            <a:endParaRPr lang="en-US" sz="1400" dirty="0"/>
          </a:p>
        </p:txBody>
      </p:sp>
      <p:sp>
        <p:nvSpPr>
          <p:cNvPr id="22" name="Text 20"/>
          <p:cNvSpPr txBox="1"/>
          <p:nvPr/>
        </p:nvSpPr>
        <p:spPr>
          <a:xfrm>
            <a:off x="8686800" y="3419856"/>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Manual reading at volume</a:t>
            </a:r>
            <a:endParaRPr lang="en-US" sz="1300" dirty="0"/>
          </a:p>
        </p:txBody>
      </p:sp>
      <p:sp>
        <p:nvSpPr>
          <p:cNvPr id="23" name="Shape 21"/>
          <p:cNvSpPr/>
          <p:nvPr/>
        </p:nvSpPr>
        <p:spPr>
          <a:xfrm>
            <a:off x="548640" y="4352544"/>
            <a:ext cx="11064240" cy="804672"/>
          </a:xfrm>
          <a:prstGeom prst="roundRect">
            <a:avLst>
              <a:gd name="adj" fmla="val 11364"/>
            </a:avLst>
          </a:prstGeom>
          <a:solidFill>
            <a:srgbClr val="EEF2F7"/>
          </a:solidFill>
          <a:ln w="12700">
            <a:solidFill>
              <a:srgbClr val="EEF2F7"/>
            </a:solidFill>
            <a:prstDash val="solid"/>
          </a:ln>
        </p:spPr>
      </p:sp>
      <p:sp>
        <p:nvSpPr>
          <p:cNvPr id="24" name="Shape 22"/>
          <p:cNvSpPr/>
          <p:nvPr/>
        </p:nvSpPr>
        <p:spPr>
          <a:xfrm>
            <a:off x="731520" y="4480560"/>
            <a:ext cx="548640" cy="548640"/>
          </a:xfrm>
          <a:prstGeom prst="ellipse">
            <a:avLst/>
          </a:prstGeom>
          <a:solidFill>
            <a:srgbClr val="E9A23B"/>
          </a:solidFill>
          <a:ln w="12700">
            <a:solidFill>
              <a:srgbClr val="E9A23B"/>
            </a:solidFill>
            <a:prstDash val="solid"/>
          </a:ln>
        </p:spPr>
      </p:sp>
      <p:sp>
        <p:nvSpPr>
          <p:cNvPr id="25" name="Text 23"/>
          <p:cNvSpPr txBox="1"/>
          <p:nvPr/>
        </p:nvSpPr>
        <p:spPr>
          <a:xfrm>
            <a:off x="731520" y="4480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6" name="Text 24"/>
          <p:cNvSpPr txBox="1"/>
          <p:nvPr/>
        </p:nvSpPr>
        <p:spPr>
          <a:xfrm>
            <a:off x="1508760" y="4352544"/>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Hard</a:t>
            </a:r>
            <a:endParaRPr lang="en-US" sz="1500" dirty="0"/>
          </a:p>
        </p:txBody>
      </p:sp>
      <p:sp>
        <p:nvSpPr>
          <p:cNvPr id="27" name="Text 25"/>
          <p:cNvSpPr txBox="1"/>
          <p:nvPr/>
        </p:nvSpPr>
        <p:spPr>
          <a:xfrm>
            <a:off x="2834640" y="4352544"/>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The mixed 3-star review about the device that restarts itself</a:t>
            </a:r>
            <a:endParaRPr lang="en-US" sz="1400" dirty="0"/>
          </a:p>
        </p:txBody>
      </p:sp>
      <p:sp>
        <p:nvSpPr>
          <p:cNvPr id="28" name="Text 26"/>
          <p:cNvSpPr txBox="1"/>
          <p:nvPr/>
        </p:nvSpPr>
        <p:spPr>
          <a:xfrm>
            <a:off x="8686800" y="4352544"/>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Stars hide the reason</a:t>
            </a:r>
            <a:endParaRPr lang="en-US" sz="1300" dirty="0"/>
          </a:p>
        </p:txBody>
      </p:sp>
      <p:sp>
        <p:nvSpPr>
          <p:cNvPr id="29" name="Shape 27"/>
          <p:cNvSpPr/>
          <p:nvPr/>
        </p:nvSpPr>
        <p:spPr>
          <a:xfrm>
            <a:off x="548640" y="5285232"/>
            <a:ext cx="11064240" cy="804672"/>
          </a:xfrm>
          <a:prstGeom prst="roundRect">
            <a:avLst>
              <a:gd name="adj" fmla="val 11364"/>
            </a:avLst>
          </a:prstGeom>
          <a:solidFill>
            <a:srgbClr val="EEF2F7"/>
          </a:solidFill>
          <a:ln w="12700">
            <a:solidFill>
              <a:srgbClr val="EEF2F7"/>
            </a:solidFill>
            <a:prstDash val="solid"/>
          </a:ln>
        </p:spPr>
      </p:sp>
      <p:sp>
        <p:nvSpPr>
          <p:cNvPr id="30" name="Shape 28"/>
          <p:cNvSpPr/>
          <p:nvPr/>
        </p:nvSpPr>
        <p:spPr>
          <a:xfrm>
            <a:off x="731520" y="5413248"/>
            <a:ext cx="548640" cy="548640"/>
          </a:xfrm>
          <a:prstGeom prst="ellipse">
            <a:avLst/>
          </a:prstGeom>
          <a:solidFill>
            <a:srgbClr val="C8553D"/>
          </a:solidFill>
          <a:ln w="12700">
            <a:solidFill>
              <a:srgbClr val="C8553D"/>
            </a:solidFill>
            <a:prstDash val="solid"/>
          </a:ln>
        </p:spPr>
      </p:sp>
      <p:sp>
        <p:nvSpPr>
          <p:cNvPr id="31" name="Text 29"/>
          <p:cNvSpPr txBox="1"/>
          <p:nvPr/>
        </p:nvSpPr>
        <p:spPr>
          <a:xfrm>
            <a:off x="731520" y="54132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2" name="Text 30"/>
          <p:cNvSpPr txBox="1"/>
          <p:nvPr/>
        </p:nvSpPr>
        <p:spPr>
          <a:xfrm>
            <a:off x="1508760" y="5285232"/>
            <a:ext cx="1280160" cy="804672"/>
          </a:xfrm>
          <a:prstGeom prst="rect">
            <a:avLst/>
          </a:prstGeom>
          <a:noFill/>
          <a:ln/>
        </p:spPr>
        <p:txBody>
          <a:bodyPr wrap="square" lIns="0" tIns="0" rIns="0" bIns="0" rtlCol="0" anchor="ctr"/>
          <a:lstStyle/>
          <a:p>
            <a:pPr indent="0" marL="0">
              <a:buNone/>
            </a:pPr>
            <a:r>
              <a:rPr lang="en-US" sz="1500" b="1" dirty="0">
                <a:solidFill>
                  <a:srgbClr val="1F3A5F"/>
                </a:solidFill>
                <a:latin typeface="Cambria" pitchFamily="34" charset="0"/>
                <a:ea typeface="Cambria" pitchFamily="34" charset="-122"/>
                <a:cs typeface="Cambria" pitchFamily="34" charset="-120"/>
              </a:rPr>
              <a:t>Hardest</a:t>
            </a:r>
            <a:endParaRPr lang="en-US" sz="1500" dirty="0"/>
          </a:p>
        </p:txBody>
      </p:sp>
      <p:sp>
        <p:nvSpPr>
          <p:cNvPr id="33" name="Text 31"/>
          <p:cNvSpPr txBox="1"/>
          <p:nvPr/>
        </p:nvSpPr>
        <p:spPr>
          <a:xfrm>
            <a:off x="2834640" y="5285232"/>
            <a:ext cx="5760720" cy="804672"/>
          </a:xfrm>
          <a:prstGeom prst="rect">
            <a:avLst/>
          </a:prstGeom>
          <a:noFill/>
          <a:ln/>
        </p:spPr>
        <p:txBody>
          <a:bodyPr wrap="square" lIns="0" tIns="0" rIns="0" bIns="0" rtlCol="0" anchor="ctr"/>
          <a:lstStyle/>
          <a:p>
            <a:pPr indent="0" marL="0">
              <a:buNone/>
            </a:pPr>
            <a:r>
              <a:rPr lang="en-US" sz="1400" dirty="0">
                <a:solidFill>
                  <a:srgbClr val="1B2733"/>
                </a:solidFill>
                <a:latin typeface="Calibri" pitchFamily="34" charset="0"/>
                <a:ea typeface="Calibri" pitchFamily="34" charset="-122"/>
                <a:cs typeface="Calibri" pitchFamily="34" charset="-120"/>
              </a:rPr>
              <a:t>Run workflow 04: spike found, Slack message arrives</a:t>
            </a:r>
            <a:endParaRPr lang="en-US" sz="1400" dirty="0"/>
          </a:p>
        </p:txBody>
      </p:sp>
      <p:sp>
        <p:nvSpPr>
          <p:cNvPr id="34" name="Text 32"/>
          <p:cNvSpPr txBox="1"/>
          <p:nvPr/>
        </p:nvSpPr>
        <p:spPr>
          <a:xfrm>
            <a:off x="8686800" y="5285232"/>
            <a:ext cx="2834640" cy="804672"/>
          </a:xfrm>
          <a:prstGeom prst="rect">
            <a:avLst/>
          </a:prstGeom>
          <a:noFill/>
          <a:ln/>
        </p:spPr>
        <p:txBody>
          <a:bodyPr wrap="square" lIns="0" tIns="0" rIns="0" bIns="0" rtlCol="0" anchor="ctr"/>
          <a:lstStyle/>
          <a:p>
            <a:pPr indent="0" marL="0">
              <a:buNone/>
            </a:pPr>
            <a:r>
              <a:rPr lang="en-US" sz="1300" i="1" dirty="0">
                <a:solidFill>
                  <a:srgbClr val="5A6470"/>
                </a:solidFill>
                <a:latin typeface="Calibri" pitchFamily="34" charset="0"/>
                <a:ea typeface="Calibri" pitchFamily="34" charset="-122"/>
                <a:cs typeface="Calibri" pitchFamily="34" charset="-120"/>
              </a:rPr>
              <a:t>Answers: Spikes found late</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LIMITATIONS AND FUTURE SCOPE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Limitations and where we go next</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Shape 3"/>
          <p:cNvSpPr/>
          <p:nvPr/>
        </p:nvSpPr>
        <p:spPr>
          <a:xfrm>
            <a:off x="548640" y="1554480"/>
            <a:ext cx="5394960" cy="4480560"/>
          </a:xfrm>
          <a:prstGeom prst="roundRect">
            <a:avLst>
              <a:gd name="adj" fmla="val 2041"/>
            </a:avLst>
          </a:prstGeom>
          <a:solidFill>
            <a:srgbClr val="FFF4DC"/>
          </a:solidFill>
          <a:ln w="12700">
            <a:solidFill>
              <a:srgbClr val="FFF4DC"/>
            </a:solidFill>
            <a:prstDash val="solid"/>
          </a:ln>
        </p:spPr>
      </p:sp>
      <p:sp>
        <p:nvSpPr>
          <p:cNvPr id="6" name="Text 4"/>
          <p:cNvSpPr txBox="1"/>
          <p:nvPr/>
        </p:nvSpPr>
        <p:spPr>
          <a:xfrm>
            <a:off x="731520" y="169164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Limitations</a:t>
            </a:r>
            <a:endParaRPr lang="en-US" sz="1600" dirty="0"/>
          </a:p>
        </p:txBody>
      </p:sp>
      <p:sp>
        <p:nvSpPr>
          <p:cNvPr id="7" name="Text 5"/>
          <p:cNvSpPr txBox="1"/>
          <p:nvPr/>
        </p:nvSpPr>
        <p:spPr>
          <a:xfrm>
            <a:off x="731520" y="2103120"/>
            <a:ext cx="5029200" cy="3794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Simulated dates; threshold tuned on the same simulation</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Three-way sentiment 78.1%, neutral class weak</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No human test of reply quality</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Neutral and Japanese replies are weakest</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Issue categories in n8n agree 43% with k-means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Small test sets; results move by a few points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Sheet updated by paste; n8n runs start by hand</a:t>
            </a:r>
            <a:endParaRPr lang="en-US" sz="1300" dirty="0"/>
          </a:p>
        </p:txBody>
      </p:sp>
      <p:sp>
        <p:nvSpPr>
          <p:cNvPr id="8" name="Shape 6"/>
          <p:cNvSpPr/>
          <p:nvPr/>
        </p:nvSpPr>
        <p:spPr>
          <a:xfrm>
            <a:off x="6217920" y="1554480"/>
            <a:ext cx="5394960" cy="4480560"/>
          </a:xfrm>
          <a:prstGeom prst="roundRect">
            <a:avLst>
              <a:gd name="adj" fmla="val 2041"/>
            </a:avLst>
          </a:prstGeom>
          <a:solidFill>
            <a:srgbClr val="EEF2F7"/>
          </a:solidFill>
          <a:ln w="12700">
            <a:solidFill>
              <a:srgbClr val="EEF2F7"/>
            </a:solidFill>
            <a:prstDash val="solid"/>
          </a:ln>
        </p:spPr>
      </p:sp>
      <p:sp>
        <p:nvSpPr>
          <p:cNvPr id="9" name="Text 7"/>
          <p:cNvSpPr txBox="1"/>
          <p:nvPr/>
        </p:nvSpPr>
        <p:spPr>
          <a:xfrm>
            <a:off x="6400800" y="169164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Future scope and scaling</a:t>
            </a:r>
            <a:endParaRPr lang="en-US" sz="1600" dirty="0"/>
          </a:p>
        </p:txBody>
      </p:sp>
      <p:sp>
        <p:nvSpPr>
          <p:cNvPr id="10" name="Text 8"/>
          <p:cNvSpPr txBox="1"/>
          <p:nvPr/>
        </p:nvSpPr>
        <p:spPr>
          <a:xfrm>
            <a:off x="6400800" y="2103120"/>
            <a:ext cx="5029200" cy="3794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Connect a real dated review feed and retune spikes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Human evaluation with support staff</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Add a separate 'mixed' flag for neutral reviews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Self-updating dashboard and Looker Studio</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Batch and caching to cut the $2.50 per 1,000 reviews</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More languages; send approved replies by Slack or email</a:t>
            </a:r>
            <a:endParaRPr lang="en-US" sz="1300" dirty="0"/>
          </a:p>
          <a:p>
            <a:pPr marL="342900" indent="-342900">
              <a:spcAft>
                <a:spcPts val="800"/>
              </a:spcAft>
              <a:buSzPct val="100000"/>
              <a:buChar char="•"/>
            </a:pPr>
            <a:r>
              <a:rPr lang="en-US" sz="1700" dirty="0">
                <a:solidFill>
                  <a:srgbClr val="1B2733"/>
                </a:solidFill>
                <a:latin typeface="Calibri" pitchFamily="34" charset="0"/>
                <a:ea typeface="Calibri" pitchFamily="34" charset="-122"/>
                <a:cs typeface="Calibri" pitchFamily="34" charset="-120"/>
              </a:rPr>
              <a:t>Learn from edited replies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Calibri" pitchFamily="34" charset="0"/>
                <a:ea typeface="Calibri" pitchFamily="34" charset="-122"/>
                <a:cs typeface="Calibri" pitchFamily="34" charset="-120"/>
              </a:rPr>
              <a:t>BUSINESS PERSPECTIVE</a:t>
            </a:r>
            <a:endParaRPr lang="en-US" sz="1200" dirty="0"/>
          </a:p>
        </p:txBody>
      </p:sp>
      <p:sp>
        <p:nvSpPr>
          <p:cNvPr id="3" name="Text 1"/>
          <p:cNvSpPr txBox="1"/>
          <p:nvPr/>
        </p:nvSpPr>
        <p:spPr>
          <a:xfrm>
            <a:off x="548640" y="594360"/>
            <a:ext cx="11064240" cy="777240"/>
          </a:xfrm>
          <a:prstGeom prst="rect">
            <a:avLst/>
          </a:prstGeom>
          <a:noFill/>
          <a:ln/>
        </p:spPr>
        <p:txBody>
          <a:bodyPr wrap="square" lIns="0" tIns="0" rIns="0" bIns="0" rtlCol="0" anchor="t"/>
          <a:lstStyle/>
          <a:p>
            <a:pPr indent="0" marL="0">
              <a:buNone/>
            </a:pPr>
            <a:r>
              <a:rPr lang="en-US" sz="3000" b="1" dirty="0">
                <a:solidFill>
                  <a:srgbClr val="1F3A5F"/>
                </a:solidFill>
                <a:latin typeface="Cambria" pitchFamily="34" charset="0"/>
                <a:ea typeface="Cambria" pitchFamily="34" charset="-122"/>
                <a:cs typeface="Cambria" pitchFamily="34" charset="-120"/>
              </a:rPr>
              <a:t>Business view: cheap, fast, and a human stays in charge</a:t>
            </a:r>
            <a:endParaRPr lang="en-US" sz="3000" dirty="0"/>
          </a:p>
        </p:txBody>
      </p:sp>
      <p:sp>
        <p:nvSpPr>
          <p:cNvPr id="4"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Group 5  |  Customer Review Insights &amp; Response Generator</a:t>
            </a:r>
            <a:endParaRPr lang="en-US" sz="1000" dirty="0"/>
          </a:p>
        </p:txBody>
      </p:sp>
      <p:sp>
        <p:nvSpPr>
          <p:cNvPr id="5" name="Text 3"/>
          <p:cNvSpPr txBox="1"/>
          <p:nvPr/>
        </p:nvSpPr>
        <p:spPr>
          <a:xfrm>
            <a:off x="548640" y="1554480"/>
            <a:ext cx="3474720" cy="822960"/>
          </a:xfrm>
          <a:prstGeom prst="rect">
            <a:avLst/>
          </a:prstGeom>
          <a:noFill/>
          <a:ln/>
        </p:spPr>
        <p:txBody>
          <a:bodyPr wrap="square" lIns="0" tIns="0" rIns="0" bIns="0" rtlCol="0" anchor="ctr"/>
          <a:lstStyle/>
          <a:p>
            <a:pPr indent="0" marL="0">
              <a:buNone/>
            </a:pPr>
            <a:r>
              <a:rPr lang="en-US" sz="4400" b="1" dirty="0">
                <a:solidFill>
                  <a:srgbClr val="2A9D8F"/>
                </a:solidFill>
                <a:latin typeface="Cambria" pitchFamily="34" charset="0"/>
                <a:ea typeface="Cambria" pitchFamily="34" charset="-122"/>
                <a:cs typeface="Cambria" pitchFamily="34" charset="-120"/>
              </a:rPr>
              <a:t>$75</a:t>
            </a:r>
            <a:endParaRPr lang="en-US" sz="4400" dirty="0"/>
          </a:p>
        </p:txBody>
      </p:sp>
      <p:sp>
        <p:nvSpPr>
          <p:cNvPr id="6" name="Text 4"/>
          <p:cNvSpPr txBox="1"/>
          <p:nvPr/>
        </p:nvSpPr>
        <p:spPr>
          <a:xfrm>
            <a:off x="548640" y="2377440"/>
            <a:ext cx="34747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per month of model usage at 1,000 reviews a day</a:t>
            </a:r>
            <a:endParaRPr lang="en-US" sz="1300" dirty="0"/>
          </a:p>
        </p:txBody>
      </p:sp>
      <p:sp>
        <p:nvSpPr>
          <p:cNvPr id="7" name="Text 5"/>
          <p:cNvSpPr txBox="1"/>
          <p:nvPr/>
        </p:nvSpPr>
        <p:spPr>
          <a:xfrm>
            <a:off x="4297680" y="1554480"/>
            <a:ext cx="3474720" cy="822960"/>
          </a:xfrm>
          <a:prstGeom prst="rect">
            <a:avLst/>
          </a:prstGeom>
          <a:noFill/>
          <a:ln/>
        </p:spPr>
        <p:txBody>
          <a:bodyPr wrap="square" lIns="0" tIns="0" rIns="0" bIns="0" rtlCol="0" anchor="ctr"/>
          <a:lstStyle/>
          <a:p>
            <a:pPr indent="0" marL="0">
              <a:buNone/>
            </a:pPr>
            <a:r>
              <a:rPr lang="en-US" sz="4400" b="1" dirty="0">
                <a:solidFill>
                  <a:srgbClr val="1F3A5F"/>
                </a:solidFill>
                <a:latin typeface="Cambria" pitchFamily="34" charset="0"/>
                <a:ea typeface="Cambria" pitchFamily="34" charset="-122"/>
                <a:cs typeface="Cambria" pitchFamily="34" charset="-120"/>
              </a:rPr>
              <a:t>11 min</a:t>
            </a:r>
            <a:endParaRPr lang="en-US" sz="4400" dirty="0"/>
          </a:p>
        </p:txBody>
      </p:sp>
      <p:sp>
        <p:nvSpPr>
          <p:cNvPr id="8" name="Text 6"/>
          <p:cNvSpPr txBox="1"/>
          <p:nvPr/>
        </p:nvSpPr>
        <p:spPr>
          <a:xfrm>
            <a:off x="4297680" y="2377440"/>
            <a:ext cx="347472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of automated processing for a day's 1,000 reviews</a:t>
            </a:r>
            <a:endParaRPr lang="en-US" sz="1300" dirty="0"/>
          </a:p>
        </p:txBody>
      </p:sp>
      <p:sp>
        <p:nvSpPr>
          <p:cNvPr id="9" name="Text 7"/>
          <p:cNvSpPr txBox="1"/>
          <p:nvPr/>
        </p:nvSpPr>
        <p:spPr>
          <a:xfrm>
            <a:off x="8046720" y="1554480"/>
            <a:ext cx="3566160" cy="822960"/>
          </a:xfrm>
          <a:prstGeom prst="rect">
            <a:avLst/>
          </a:prstGeom>
          <a:noFill/>
          <a:ln/>
        </p:spPr>
        <p:txBody>
          <a:bodyPr wrap="square" lIns="0" tIns="0" rIns="0" bIns="0" rtlCol="0" anchor="ctr"/>
          <a:lstStyle/>
          <a:p>
            <a:pPr indent="0" marL="0">
              <a:buNone/>
            </a:pPr>
            <a:r>
              <a:rPr lang="en-US" sz="4400" b="1" dirty="0">
                <a:solidFill>
                  <a:srgbClr val="E9A23B"/>
                </a:solidFill>
                <a:latin typeface="Cambria" pitchFamily="34" charset="0"/>
                <a:ea typeface="Cambria" pitchFamily="34" charset="-122"/>
                <a:cs typeface="Cambria" pitchFamily="34" charset="-120"/>
              </a:rPr>
              <a:t>~33 h</a:t>
            </a:r>
            <a:endParaRPr lang="en-US" sz="4400" dirty="0"/>
          </a:p>
        </p:txBody>
      </p:sp>
      <p:sp>
        <p:nvSpPr>
          <p:cNvPr id="10" name="Text 8"/>
          <p:cNvSpPr txBox="1"/>
          <p:nvPr/>
        </p:nvSpPr>
        <p:spPr>
          <a:xfrm>
            <a:off x="8046720" y="2377440"/>
            <a:ext cx="3566160" cy="640080"/>
          </a:xfrm>
          <a:prstGeom prst="rect">
            <a:avLst/>
          </a:prstGeom>
          <a:noFill/>
          <a:ln/>
        </p:spPr>
        <p:txBody>
          <a:bodyPr wrap="square" lIns="0" tIns="0" rIns="0" bIns="0" rtlCol="0" anchor="t"/>
          <a:lstStyle/>
          <a:p>
            <a:pPr indent="0" marL="0">
              <a:buNone/>
            </a:pPr>
            <a:r>
              <a:rPr lang="en-US" sz="1300" dirty="0">
                <a:solidFill>
                  <a:srgbClr val="1B2733"/>
                </a:solidFill>
                <a:latin typeface="Calibri" pitchFamily="34" charset="0"/>
                <a:ea typeface="Calibri" pitchFamily="34" charset="-122"/>
                <a:cs typeface="Calibri" pitchFamily="34" charset="-120"/>
              </a:rPr>
              <a:t>of manual work for the same reviews at 2 min each (assumption)</a:t>
            </a:r>
            <a:endParaRPr lang="en-US" sz="1300" dirty="0"/>
          </a:p>
        </p:txBody>
      </p:sp>
      <p:sp>
        <p:nvSpPr>
          <p:cNvPr id="11" name="Shape 9"/>
          <p:cNvSpPr/>
          <p:nvPr/>
        </p:nvSpPr>
        <p:spPr>
          <a:xfrm>
            <a:off x="548640" y="3566160"/>
            <a:ext cx="5394960" cy="2606040"/>
          </a:xfrm>
          <a:prstGeom prst="roundRect">
            <a:avLst>
              <a:gd name="adj" fmla="val 3509"/>
            </a:avLst>
          </a:prstGeom>
          <a:solidFill>
            <a:srgbClr val="EEF2F7"/>
          </a:solidFill>
          <a:ln w="12700">
            <a:solidFill>
              <a:srgbClr val="EEF2F7"/>
            </a:solidFill>
            <a:prstDash val="solid"/>
          </a:ln>
        </p:spPr>
      </p:sp>
      <p:sp>
        <p:nvSpPr>
          <p:cNvPr id="12" name="Text 10"/>
          <p:cNvSpPr txBox="1"/>
          <p:nvPr/>
        </p:nvSpPr>
        <p:spPr>
          <a:xfrm>
            <a:off x="731520" y="370332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Value</a:t>
            </a:r>
            <a:endParaRPr lang="en-US" sz="1600" dirty="0"/>
          </a:p>
        </p:txBody>
      </p:sp>
      <p:sp>
        <p:nvSpPr>
          <p:cNvPr id="13" name="Text 11"/>
          <p:cNvSpPr txBox="1"/>
          <p:nvPr/>
        </p:nvSpPr>
        <p:spPr>
          <a:xfrm>
            <a:off x="731520" y="4114800"/>
            <a:ext cx="502920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Replies in the customer's own language</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Early warning on delivery, packaging and price problems</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Shared view of why customers rate low</a:t>
            </a:r>
            <a:endParaRPr lang="en-US" sz="1300" dirty="0"/>
          </a:p>
        </p:txBody>
      </p:sp>
      <p:sp>
        <p:nvSpPr>
          <p:cNvPr id="14" name="Shape 12"/>
          <p:cNvSpPr/>
          <p:nvPr/>
        </p:nvSpPr>
        <p:spPr>
          <a:xfrm>
            <a:off x="6217920" y="3566160"/>
            <a:ext cx="5394960" cy="2606040"/>
          </a:xfrm>
          <a:prstGeom prst="roundRect">
            <a:avLst>
              <a:gd name="adj" fmla="val 3509"/>
            </a:avLst>
          </a:prstGeom>
          <a:solidFill>
            <a:srgbClr val="EEF2F7"/>
          </a:solidFill>
          <a:ln w="12700">
            <a:solidFill>
              <a:srgbClr val="EEF2F7"/>
            </a:solidFill>
            <a:prstDash val="solid"/>
          </a:ln>
        </p:spPr>
      </p:sp>
      <p:sp>
        <p:nvSpPr>
          <p:cNvPr id="15" name="Text 13"/>
          <p:cNvSpPr txBox="1"/>
          <p:nvPr/>
        </p:nvSpPr>
        <p:spPr>
          <a:xfrm>
            <a:off x="6400800" y="3703320"/>
            <a:ext cx="5029200" cy="365760"/>
          </a:xfrm>
          <a:prstGeom prst="rect">
            <a:avLst/>
          </a:prstGeom>
          <a:noFill/>
          <a:ln/>
        </p:spPr>
        <p:txBody>
          <a:bodyPr wrap="square" lIns="0" tIns="0" rIns="0" bIns="0" rtlCol="0" anchor="t"/>
          <a:lstStyle/>
          <a:p>
            <a:pPr indent="0" marL="0">
              <a:buNone/>
            </a:pPr>
            <a:r>
              <a:rPr lang="en-US" sz="1600" b="1" dirty="0">
                <a:solidFill>
                  <a:srgbClr val="1F3A5F"/>
                </a:solidFill>
                <a:latin typeface="Cambria" pitchFamily="34" charset="0"/>
                <a:ea typeface="Cambria" pitchFamily="34" charset="-122"/>
                <a:cs typeface="Cambria" pitchFamily="34" charset="-120"/>
              </a:rPr>
              <a:t>Risks we manage</a:t>
            </a:r>
            <a:endParaRPr lang="en-US" sz="1600" dirty="0"/>
          </a:p>
        </p:txBody>
      </p:sp>
      <p:sp>
        <p:nvSpPr>
          <p:cNvPr id="16" name="Text 14"/>
          <p:cNvSpPr txBox="1"/>
          <p:nvPr/>
        </p:nvSpPr>
        <p:spPr>
          <a:xfrm>
            <a:off x="6400800" y="4114800"/>
            <a:ext cx="5029200"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Over-promising replies: guardrails, judge, human approval</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Cost surprises: spend cap and call log</a:t>
            </a:r>
            <a:endParaRPr lang="en-US" sz="1300" dirty="0"/>
          </a:p>
          <a:p>
            <a:pPr marL="342900" indent="-342900">
              <a:spcAft>
                <a:spcPts val="800"/>
              </a:spcAft>
              <a:buSzPct val="100000"/>
              <a:buChar char="•"/>
            </a:pPr>
            <a:r>
              <a:rPr lang="en-US" sz="1600" dirty="0">
                <a:solidFill>
                  <a:srgbClr val="1B2733"/>
                </a:solidFill>
                <a:latin typeface="Calibri" pitchFamily="34" charset="0"/>
                <a:ea typeface="Calibri" pitchFamily="34" charset="-122"/>
                <a:cs typeface="Calibri" pitchFamily="34" charset="-120"/>
              </a:rPr>
              <a:t>Weak neutral sentiment: flag borderline reviews</a:t>
            </a:r>
            <a:endParaRPr lang="en-US" sz="13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3A5F"/>
        </a:solidFill>
      </p:bgPr>
    </p:bg>
    <p:spTree>
      <p:nvGrpSpPr>
        <p:cNvPr id="1" name=""/>
        <p:cNvGrpSpPr/>
        <p:nvPr/>
      </p:nvGrpSpPr>
      <p:grpSpPr>
        <a:xfrm>
          <a:off x="0" y="0"/>
          <a:ext cx="0" cy="0"/>
          <a:chOff x="0" y="0"/>
          <a:chExt cx="0" cy="0"/>
        </a:xfrm>
      </p:grpSpPr>
      <p:sp>
        <p:nvSpPr>
          <p:cNvPr id="2" name="Text 0"/>
          <p:cNvSpPr txBox="1"/>
          <p:nvPr/>
        </p:nvSpPr>
        <p:spPr>
          <a:xfrm>
            <a:off x="731520" y="182880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3017520"/>
            <a:ext cx="10515600" cy="640080"/>
          </a:xfrm>
          <a:prstGeom prst="rect">
            <a:avLst/>
          </a:prstGeom>
          <a:noFill/>
          <a:ln/>
        </p:spPr>
        <p:txBody>
          <a:bodyPr wrap="square" lIns="0" tIns="0" rIns="0" bIns="0" rtlCol="0" anchor="ctr"/>
          <a:lstStyle/>
          <a:p>
            <a:pPr indent="0" marL="0">
              <a:buNone/>
            </a:pPr>
            <a:r>
              <a:rPr lang="en-US" sz="2800" dirty="0">
                <a:solidFill>
                  <a:srgbClr val="CFE6E2"/>
                </a:solidFill>
                <a:latin typeface="Calibri" pitchFamily="34" charset="0"/>
                <a:ea typeface="Calibri" pitchFamily="34" charset="-122"/>
                <a:cs typeface="Calibri" pitchFamily="34" charset="-120"/>
              </a:rPr>
              <a:t>Questions?</a:t>
            </a:r>
            <a:endParaRPr lang="en-US" sz="2800" dirty="0"/>
          </a:p>
        </p:txBody>
      </p:sp>
      <p:sp>
        <p:nvSpPr>
          <p:cNvPr id="4" name="Text 2"/>
          <p:cNvSpPr txBox="1"/>
          <p:nvPr/>
        </p:nvSpPr>
        <p:spPr>
          <a:xfrm>
            <a:off x="731520" y="512064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Code: github.com/west01srinivas-hue/Capstone_Project_Group_5</a:t>
            </a:r>
            <a:endParaRPr lang="en-US" sz="1600" dirty="0"/>
          </a:p>
        </p:txBody>
      </p:sp>
      <p:sp>
        <p:nvSpPr>
          <p:cNvPr id="5" name="Text 3"/>
          <p:cNvSpPr txBox="1"/>
          <p:nvPr/>
        </p:nvSpPr>
        <p:spPr>
          <a:xfrm>
            <a:off x="731520" y="5532120"/>
            <a:ext cx="10515600" cy="365760"/>
          </a:xfrm>
          <a:prstGeom prst="rect">
            <a:avLst/>
          </a:prstGeom>
          <a:noFill/>
          <a:ln/>
        </p:spPr>
        <p:txBody>
          <a:bodyPr wrap="square" lIns="0" tIns="0" rIns="0" bIns="0" rtlCol="0" anchor="ctr"/>
          <a:lstStyle/>
          <a:p>
            <a:pPr indent="0" marL="0">
              <a:buNone/>
            </a:pPr>
            <a:r>
              <a:rPr lang="en-US" sz="1400" dirty="0">
                <a:solidFill>
                  <a:srgbClr val="9FB6D3"/>
                </a:solidFill>
                <a:latin typeface="Calibri" pitchFamily="34" charset="0"/>
                <a:ea typeface="Calibri" pitchFamily="34" charset="-122"/>
                <a:cs typeface="Calibri" pitchFamily="34" charset="-120"/>
              </a:rPr>
              <a:t>Full report and experiment log are in the repository and on the LMS.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Review Insights &amp; Response Generator - Group 5</dc:title>
  <dc:subject>PptxGenJS Presentation</dc:subject>
  <dc:creator>PptxGenJS</dc:creator>
  <cp:lastModifiedBy>PptxGenJS</cp:lastModifiedBy>
  <cp:revision>1</cp:revision>
  <dcterms:created xsi:type="dcterms:W3CDTF">2026-10-02T16:10:49Z</dcterms:created>
  <dcterms:modified xsi:type="dcterms:W3CDTF">2026-10-02T16:10:49Z</dcterms:modified>
</cp:coreProperties>
</file>